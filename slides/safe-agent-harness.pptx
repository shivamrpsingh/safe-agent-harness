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sentence the library is built on: Agent equals Model plus Harness. The model only proposes. The harness validates arguments, checks risk, asks for approval, sandboxes code, caps the loop, checks the output, and writes a trace. If a safety rule exists only in the system prompt, a later instruction can talk around it. This deck is the helper note for the safe-agent-harness skill: when to load it, how it applies while you build, and the support-agent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failures people actually ship. None of them are the model being unintelligent. They are missing controls: a shared admin key, an irreversible refund with no approver, code execution on the host, no step cap, and a page that is treated as instructions. Each row names the pointer that puts that control in code. The library's job is to make the dangerous path the one you have to opt into, and to fail closed when something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init in the repo where the agent is being built, not inside the library repo. --cursor writes skills/safe-agent-harness, .cursor/rules/safe-agent-harness.mdc, and seven files under .cursor/commands. --claude writes the skill and commands under .claude and appends a marked block to CLAUDE.md. --agents appends a marked block to AGENTS.md for Codex, Copilot, Windsurf, and Gemini CLI. --all does all three. A second run is safe: if the HTML comment marker is already in CLAUDE.md or AGENTS.md, that file is left alone. Flags: --claude, --cursor, --agents, --all, and --path for another repo root. Without uv, use pipx run safe-agent-harness init, or pip install and then the same command. The wheel packages skills, commands, and adapters under safe_agent_harness/_bundle so a clean install still finds the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skill even when the person never says safety or harness. Triggers: a new agent or agent loop, a tool or MCP change, prompt injection, sandboxing, human approval, cost or rate limits, PII in output, evals, and a PR that adds or changes agent tools. The routing table in SKILL.md maps each of these to pointer sections and to a small set of library calls. Read only those sections of pointers.md. If the risk tier is unclear, ask one question: Can this be undone without contacting anyone? Yes means Risk.WRITE. No means Risk.IRREVERSIBLE. In Cursor, after init, type slash for the commands or mention @safe-agent-harness. The rule also attaches when agent or tool files are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path as a funnel, not a dump of the whole skill. A prompt or a slash command hits the adapter, which tells the assistant to open SKILL.md. The routing table picks pointer sections. Starting a new agent is P1, P2, and P4. Adding a tool is P3, P4, and P5. A release is P10. A PR review is all of them. Then the assistant uses the library classes named in that row and finishes by marking the exit checklist done, n/a, or TODO. Copy-paste prompts for each row live in references/prompts.md.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Harness is everything around the model: at least two models for fallback, TransientError only for retryable failures, a fallback on flaky tools, and ModelClient.step for a new provider. P2. system states purpose and a never-do list. Out-of-scope requests get a clear refusal. P3. No shared, personal, or admin credentials. Args models constrain every field: IDs by pattern, amounts by range. P4. Every tool is tagged. deny_all is the default. policy_approver encodes what can proceed, and escalate goes to a real human channel. Any approver exception is a denial. Writes carry idempotency keys. P5. scan_injection is a heuristic and a trace signal. It does not replace least privilege and approvals. An injected instruction cannot do damage the agent has no permission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P6. Docker is the production boundary. use_docker=False is for local development and is not a security boundary. Install needed packages in the image. Do not open the network to pip-install at runtime. P7. Tune limits from real traces. More than one instance needs a shared RateLimiter and SessionMemory, such as Redis. Test the kill switch. P8. Structured output uses schema=. Secrets that must never leave go in block_on. On rejection the harness says the output failed a safety check. P9. Events include run_start, tool_call, tool_result, tool_fallback, args_rejected, approval_granted, approval_denied, injection_suspected, model_failed, degraded, and run_end. Point the sink at Langfuse, LangSmith, or OpenTelemetry. Review FailureLog and turn findings into code. P10. Mix about 60 percent normal cases, 20 percent edge, and 20 percent adversarial. FakeModel keeps harness tests deterministic. A real model is for behavior evals. Each production incident becomes a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build order from SKILL.md. Do the steps in order so later controls have something real to wrap. Scope first, or the tool list grows past what you can test. Tools next, each with a Pydantic model and a risk tag. Approvals before you wire the side effect. Limits before you let it loop. Sandbox before any generated code runs. Untrusted input on every external reader. Output validator before text is written to a database, an API, or a customer. Tracing so you can see what happened. Evals last, and then they stay in CI. Extend the library. Do not reimplement the loop, the approver, or the sandbox. Every new tool ships with a Pydantic args model, a risk tier, and at least one EvalCase. Tests use FakeModel.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files are what init copies into .cursor/commands and .claude/commands. new-agent is the full scaffold. add-tool is the everyday change. harden is for an agent that already exists and is missing injection handling, a sandbox, limits, or output validation. audit scores a path. review-pr uses the blocking checklist in pointers.md: missing schema or risk, irreversible action with allow_all, code outside the sandbox, hardcoded credentials, external content without untrusted_output, and a harness with no budget. Non-blocking findings include a tool with no EvalCase, a flaky tool with no fallback, and no OutputValidator on an internal-only agent. evals aims for 30 to 50 cases. debug-trace starts from a trace and ends in a code change, not a prompt tweak.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examples/support_agent.py with no API key. FakeModel plays a fixed script. The system string is P2. lookup_order raises TransientError and falls back to the cache, which is P1. RefundArgs constrains the order id, the amount, and the reason length, which is P3. refund is Risk.IRREVERSIBLE. policy_approver allows amount less than or equal to 50 and escalates the rest to cli_approver. The $42 refund proceeds. fetch_policy_page is untrusted_output=True and contains a planted injection, so the harness wraps it as data and emits injection_suspected. calculate calls run_in_sandbox. The example passes use_docker=False so it runs locally. Production passes True. Budget max_steps is 6. OutputValidator redacts the customer email in the final answer. Logging shows the trace. This is the shape /new-agent should scaffold.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implementation constraints, not slogans. Scoped credentials means the tool function builds its own client from an env var or a vault, with separate dev and prod keys. The default approver is deny_all. allow_all is for tests. Never retry a non-idempotent write unless the call has an idempotency key. Outside local development, run_in_sandbox uses Docker: no network, read-only root, capabilities dropped, output size capped. redact and scan_injection are heuristics. They add signal. They do not replace P3 and P4. Text from tools, documents, or the web is data. The harness degrades with a trace id instead of fabricating a tool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every agent-building response with this checklist. Done means the control is in code. n/a means the agent has no such surface, for example no code execution so P6 does not apply. TODO means it is still missing and should be named. Full wording is in SKILL.md. The long form of each pointer, including the mistakes to avoid, is in references/pointers.md. The written helper note is docs/applying-the-skill.md. After the repo is public, install into another project with: uvx --from git+https://github.com/shivamrpsingh/safe-agent-harness safe-agent-harness init --cursor Then try /new-agent a support agent that refunds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C1917"/>
          </a:solidFill>
          <a:ln/>
        </p:spPr>
      </p:sp>
      <p:sp>
        <p:nvSpPr>
          <p:cNvPr id="3" name="Shape 1"/>
          <p:cNvSpPr/>
          <p:nvPr/>
        </p:nvSpPr>
        <p:spPr>
          <a:xfrm>
            <a:off x="502920" y="1417320"/>
            <a:ext cx="384048" cy="384048"/>
          </a:xfrm>
          <a:prstGeom prst="roundRect">
            <a:avLst>
              <a:gd name="adj" fmla="val 14286"/>
            </a:avLst>
          </a:prstGeom>
          <a:solidFill>
            <a:srgbClr val="C45C26"/>
          </a:solidFill>
          <a:ln/>
        </p:spPr>
      </p:sp>
      <p:sp>
        <p:nvSpPr>
          <p:cNvPr id="4" name="Text 2"/>
          <p:cNvSpPr txBox="1"/>
          <p:nvPr/>
        </p:nvSpPr>
        <p:spPr>
          <a:xfrm>
            <a:off x="502920" y="14173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a:t>
            </a:r>
            <a:endParaRPr lang="en-US" sz="1200" dirty="0"/>
          </a:p>
        </p:txBody>
      </p:sp>
      <p:sp>
        <p:nvSpPr>
          <p:cNvPr id="5" name="Text 3"/>
          <p:cNvSpPr txBox="1"/>
          <p:nvPr/>
        </p:nvSpPr>
        <p:spPr>
          <a:xfrm>
            <a:off x="1051560" y="1463040"/>
            <a:ext cx="7315200" cy="310896"/>
          </a:xfrm>
          <a:prstGeom prst="rect">
            <a:avLst/>
          </a:prstGeom>
          <a:noFill/>
          <a:ln/>
        </p:spPr>
        <p:txBody>
          <a:bodyPr wrap="square" lIns="0" tIns="0" rIns="0" bIns="0" rtlCol="0" anchor="ctr"/>
          <a:lstStyle/>
          <a:p>
            <a:pPr indent="0" marL="0">
              <a:buNone/>
            </a:pPr>
            <a:r>
              <a:rPr lang="en-US" sz="1400" b="1" spc="140" kern="0" dirty="0">
                <a:solidFill>
                  <a:srgbClr val="C45C26"/>
                </a:solidFill>
                <a:latin typeface="Calibri" pitchFamily="34" charset="0"/>
                <a:ea typeface="Calibri" pitchFamily="34" charset="-122"/>
                <a:cs typeface="Calibri" pitchFamily="34" charset="-120"/>
              </a:rPr>
              <a:t>SAFE AGENT HARNESS</a:t>
            </a:r>
            <a:endParaRPr lang="en-US" sz="1400" dirty="0"/>
          </a:p>
        </p:txBody>
      </p:sp>
      <p:sp>
        <p:nvSpPr>
          <p:cNvPr id="6" name="Text 4"/>
          <p:cNvSpPr txBox="1"/>
          <p:nvPr/>
        </p:nvSpPr>
        <p:spPr>
          <a:xfrm>
            <a:off x="502920" y="2057400"/>
            <a:ext cx="10972800" cy="10515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Agent = Model + Harness</a:t>
            </a:r>
            <a:endParaRPr lang="en-US" sz="4800" dirty="0"/>
          </a:p>
        </p:txBody>
      </p:sp>
      <p:sp>
        <p:nvSpPr>
          <p:cNvPr id="7" name="Text 5"/>
          <p:cNvSpPr txBox="1"/>
          <p:nvPr/>
        </p:nvSpPr>
        <p:spPr>
          <a:xfrm>
            <a:off x="502920" y="3337560"/>
            <a:ext cx="8686800" cy="822960"/>
          </a:xfrm>
          <a:prstGeom prst="rect">
            <a:avLst/>
          </a:prstGeom>
          <a:noFill/>
          <a:ln/>
        </p:spPr>
        <p:txBody>
          <a:bodyPr wrap="square" lIns="0" tIns="0" rIns="0" bIns="0" rtlCol="0" anchor="ctr"/>
          <a:lstStyle/>
          <a:p>
            <a:pPr indent="0" marL="0">
              <a:buNone/>
            </a:pPr>
            <a:r>
              <a:rPr lang="en-US" sz="2000" dirty="0">
                <a:solidFill>
                  <a:srgbClr val="E7E5E4"/>
                </a:solidFill>
                <a:latin typeface="Calibri" pitchFamily="34" charset="0"/>
                <a:ea typeface="Calibri" pitchFamily="34" charset="-122"/>
                <a:cs typeface="Calibri" pitchFamily="34" charset="-120"/>
              </a:rPr>
              <a:t>The model proposes actions. The harness decides what runs,</a:t>
            </a:r>
            <a:endParaRPr lang="en-US" sz="2000" dirty="0"/>
          </a:p>
          <a:p>
            <a:pPr indent="0" marL="0">
              <a:buNone/>
            </a:pPr>
            <a:r>
              <a:rPr lang="en-US" sz="2000" dirty="0">
                <a:solidFill>
                  <a:srgbClr val="E7E5E4"/>
                </a:solidFill>
                <a:latin typeface="Calibri" pitchFamily="34" charset="0"/>
                <a:ea typeface="Calibri" pitchFamily="34" charset="-122"/>
                <a:cs typeface="Calibri" pitchFamily="34" charset="-120"/>
              </a:rPr>
              <a:t>records everything, and fails honestly.</a:t>
            </a:r>
            <a:endParaRPr lang="en-US" sz="2000" dirty="0"/>
          </a:p>
        </p:txBody>
      </p:sp>
      <p:sp>
        <p:nvSpPr>
          <p:cNvPr id="8" name="Shape 6"/>
          <p:cNvSpPr/>
          <p:nvPr/>
        </p:nvSpPr>
        <p:spPr>
          <a:xfrm>
            <a:off x="502920" y="4617720"/>
            <a:ext cx="6766560" cy="566928"/>
          </a:xfrm>
          <a:prstGeom prst="roundRect">
            <a:avLst>
              <a:gd name="adj" fmla="val 12903"/>
            </a:avLst>
          </a:prstGeom>
          <a:solidFill>
            <a:srgbClr val="292524"/>
          </a:solidFill>
          <a:ln/>
        </p:spPr>
      </p:sp>
      <p:sp>
        <p:nvSpPr>
          <p:cNvPr id="9" name="Text 7"/>
          <p:cNvSpPr txBox="1"/>
          <p:nvPr/>
        </p:nvSpPr>
        <p:spPr>
          <a:xfrm>
            <a:off x="685800" y="4617720"/>
            <a:ext cx="6400800" cy="566928"/>
          </a:xfrm>
          <a:prstGeom prst="rect">
            <a:avLst/>
          </a:prstGeom>
          <a:noFill/>
          <a:ln/>
        </p:spPr>
        <p:txBody>
          <a:bodyPr wrap="square" lIns="0" tIns="0" rIns="0" bIns="0" rtlCol="0" anchor="ctr"/>
          <a:lstStyle/>
          <a:p>
            <a:pPr indent="0" marL="0">
              <a:buNone/>
            </a:pPr>
            <a:r>
              <a:rPr lang="en-US" sz="1600" dirty="0">
                <a:solidFill>
                  <a:srgbClr val="F6F1E7"/>
                </a:solidFill>
                <a:latin typeface="Calibri" pitchFamily="34" charset="0"/>
                <a:ea typeface="Calibri" pitchFamily="34" charset="-122"/>
                <a:cs typeface="Calibri" pitchFamily="34" charset="-120"/>
              </a:rPr>
              <a:t>Safety rules live in code.</a:t>
            </a:r>
            <a:endParaRPr lang="en-US" sz="1600" dirty="0"/>
          </a:p>
        </p:txBody>
      </p:sp>
      <p:sp>
        <p:nvSpPr>
          <p:cNvPr id="10" name="Text 8"/>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A8A29E"/>
                </a:solidFill>
                <a:latin typeface="Calibri" pitchFamily="34" charset="0"/>
                <a:ea typeface="Calibri" pitchFamily="34" charset="-122"/>
                <a:cs typeface="Calibri" pitchFamily="34" charset="-120"/>
              </a:rPr>
              <a:t>Safe agent harness</a:t>
            </a:r>
            <a:endParaRPr lang="en-US" sz="1100" dirty="0"/>
          </a:p>
        </p:txBody>
      </p:sp>
      <p:sp>
        <p:nvSpPr>
          <p:cNvPr id="11" name="Text 9"/>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A8A29E"/>
                </a:solidFill>
                <a:latin typeface="Calibri" pitchFamily="34" charset="0"/>
                <a:ea typeface="Calibri" pitchFamily="34" charset="-122"/>
                <a:cs typeface="Calibri"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WHY A HARNESS</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Most failures are harness failures</a:t>
            </a:r>
            <a:endParaRPr lang="en-US" sz="3200" dirty="0"/>
          </a:p>
        </p:txBody>
      </p:sp>
      <p:sp>
        <p:nvSpPr>
          <p:cNvPr id="5" name="Shape 3"/>
          <p:cNvSpPr/>
          <p:nvPr/>
        </p:nvSpPr>
        <p:spPr>
          <a:xfrm>
            <a:off x="457200" y="1261872"/>
            <a:ext cx="7452360"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6" name="Text 4"/>
          <p:cNvSpPr txBox="1"/>
          <p:nvPr/>
        </p:nvSpPr>
        <p:spPr>
          <a:xfrm>
            <a:off x="658368" y="1389888"/>
            <a:ext cx="7040880" cy="457200"/>
          </a:xfrm>
          <a:prstGeom prst="rect">
            <a:avLst/>
          </a:prstGeom>
          <a:noFill/>
          <a:ln/>
        </p:spPr>
        <p:txBody>
          <a:bodyPr wrap="square" lIns="0" tIns="0" rIns="0" bIns="0" rtlCol="0" anchor="ctr"/>
          <a:lstStyle/>
          <a:p>
            <a:pPr indent="0" marL="0">
              <a:buNone/>
            </a:pPr>
            <a:r>
              <a:rPr lang="en-US" sz="1800" dirty="0">
                <a:solidFill>
                  <a:srgbClr val="1C1917"/>
                </a:solidFill>
                <a:latin typeface="Calibri" pitchFamily="34" charset="0"/>
                <a:ea typeface="Calibri" pitchFamily="34" charset="-122"/>
                <a:cs typeface="Calibri" pitchFamily="34" charset="-120"/>
              </a:rPr>
              <a:t>A tool holds admin credentials</a:t>
            </a:r>
            <a:endParaRPr lang="en-US" sz="1800" dirty="0"/>
          </a:p>
        </p:txBody>
      </p:sp>
      <p:sp>
        <p:nvSpPr>
          <p:cNvPr id="7" name="Shape 5"/>
          <p:cNvSpPr/>
          <p:nvPr/>
        </p:nvSpPr>
        <p:spPr>
          <a:xfrm>
            <a:off x="8366760" y="1261872"/>
            <a:ext cx="3364992" cy="713232"/>
          </a:xfrm>
          <a:prstGeom prst="roundRect">
            <a:avLst>
              <a:gd name="adj" fmla="val 10256"/>
            </a:avLst>
          </a:prstGeom>
          <a:solidFill>
            <a:srgbClr val="1C1917"/>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8" name="Text 6"/>
          <p:cNvSpPr txBox="1"/>
          <p:nvPr/>
        </p:nvSpPr>
        <p:spPr>
          <a:xfrm>
            <a:off x="8522208" y="1389888"/>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P3  least privilege</a:t>
            </a:r>
            <a:endParaRPr lang="en-US" sz="1500" dirty="0"/>
          </a:p>
        </p:txBody>
      </p:sp>
      <p:sp>
        <p:nvSpPr>
          <p:cNvPr id="9" name="Shape 7"/>
          <p:cNvSpPr/>
          <p:nvPr/>
        </p:nvSpPr>
        <p:spPr>
          <a:xfrm>
            <a:off x="457200" y="2249424"/>
            <a:ext cx="7452360"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0" name="Text 8"/>
          <p:cNvSpPr txBox="1"/>
          <p:nvPr/>
        </p:nvSpPr>
        <p:spPr>
          <a:xfrm>
            <a:off x="658368" y="2377440"/>
            <a:ext cx="7040880" cy="457200"/>
          </a:xfrm>
          <a:prstGeom prst="rect">
            <a:avLst/>
          </a:prstGeom>
          <a:noFill/>
          <a:ln/>
        </p:spPr>
        <p:txBody>
          <a:bodyPr wrap="square" lIns="0" tIns="0" rIns="0" bIns="0" rtlCol="0" anchor="ctr"/>
          <a:lstStyle/>
          <a:p>
            <a:pPr indent="0" marL="0">
              <a:buNone/>
            </a:pPr>
            <a:r>
              <a:rPr lang="en-US" sz="1800" dirty="0">
                <a:solidFill>
                  <a:srgbClr val="1C1917"/>
                </a:solidFill>
                <a:latin typeface="Calibri" pitchFamily="34" charset="0"/>
                <a:ea typeface="Calibri" pitchFamily="34" charset="-122"/>
                <a:cs typeface="Calibri" pitchFamily="34" charset="-120"/>
              </a:rPr>
              <a:t>A refund runs with no approval</a:t>
            </a:r>
            <a:endParaRPr lang="en-US" sz="1800" dirty="0"/>
          </a:p>
        </p:txBody>
      </p:sp>
      <p:sp>
        <p:nvSpPr>
          <p:cNvPr id="11" name="Shape 9"/>
          <p:cNvSpPr/>
          <p:nvPr/>
        </p:nvSpPr>
        <p:spPr>
          <a:xfrm>
            <a:off x="8366760" y="2249424"/>
            <a:ext cx="3364992" cy="713232"/>
          </a:xfrm>
          <a:prstGeom prst="roundRect">
            <a:avLst>
              <a:gd name="adj" fmla="val 10256"/>
            </a:avLst>
          </a:prstGeom>
          <a:solidFill>
            <a:srgbClr val="1C1917"/>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2" name="Text 10"/>
          <p:cNvSpPr txBox="1"/>
          <p:nvPr/>
        </p:nvSpPr>
        <p:spPr>
          <a:xfrm>
            <a:off x="8522208" y="2377440"/>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P4  risk tiers</a:t>
            </a:r>
            <a:endParaRPr lang="en-US" sz="1500" dirty="0"/>
          </a:p>
        </p:txBody>
      </p:sp>
      <p:sp>
        <p:nvSpPr>
          <p:cNvPr id="13" name="Shape 11"/>
          <p:cNvSpPr/>
          <p:nvPr/>
        </p:nvSpPr>
        <p:spPr>
          <a:xfrm>
            <a:off x="457200" y="3236976"/>
            <a:ext cx="7452360"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4" name="Text 12"/>
          <p:cNvSpPr txBox="1"/>
          <p:nvPr/>
        </p:nvSpPr>
        <p:spPr>
          <a:xfrm>
            <a:off x="658368" y="3364992"/>
            <a:ext cx="7040880" cy="457200"/>
          </a:xfrm>
          <a:prstGeom prst="rect">
            <a:avLst/>
          </a:prstGeom>
          <a:noFill/>
          <a:ln/>
        </p:spPr>
        <p:txBody>
          <a:bodyPr wrap="square" lIns="0" tIns="0" rIns="0" bIns="0" rtlCol="0" anchor="ctr"/>
          <a:lstStyle/>
          <a:p>
            <a:pPr indent="0" marL="0">
              <a:buNone/>
            </a:pPr>
            <a:r>
              <a:rPr lang="en-US" sz="1800" dirty="0">
                <a:solidFill>
                  <a:srgbClr val="1C1917"/>
                </a:solidFill>
                <a:latin typeface="Calibri" pitchFamily="34" charset="0"/>
                <a:ea typeface="Calibri" pitchFamily="34" charset="-122"/>
                <a:cs typeface="Calibri" pitchFamily="34" charset="-120"/>
              </a:rPr>
              <a:t>Generated code runs on the host</a:t>
            </a:r>
            <a:endParaRPr lang="en-US" sz="1800" dirty="0"/>
          </a:p>
        </p:txBody>
      </p:sp>
      <p:sp>
        <p:nvSpPr>
          <p:cNvPr id="15" name="Shape 13"/>
          <p:cNvSpPr/>
          <p:nvPr/>
        </p:nvSpPr>
        <p:spPr>
          <a:xfrm>
            <a:off x="8366760" y="3236976"/>
            <a:ext cx="3364992" cy="713232"/>
          </a:xfrm>
          <a:prstGeom prst="roundRect">
            <a:avLst>
              <a:gd name="adj" fmla="val 10256"/>
            </a:avLst>
          </a:prstGeom>
          <a:solidFill>
            <a:srgbClr val="1C1917"/>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6" name="Text 14"/>
          <p:cNvSpPr txBox="1"/>
          <p:nvPr/>
        </p:nvSpPr>
        <p:spPr>
          <a:xfrm>
            <a:off x="8522208" y="3364992"/>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P6  sandbox</a:t>
            </a:r>
            <a:endParaRPr lang="en-US" sz="1500" dirty="0"/>
          </a:p>
        </p:txBody>
      </p:sp>
      <p:sp>
        <p:nvSpPr>
          <p:cNvPr id="17" name="Shape 15"/>
          <p:cNvSpPr/>
          <p:nvPr/>
        </p:nvSpPr>
        <p:spPr>
          <a:xfrm>
            <a:off x="457200" y="4224528"/>
            <a:ext cx="7452360"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8" name="Text 16"/>
          <p:cNvSpPr txBox="1"/>
          <p:nvPr/>
        </p:nvSpPr>
        <p:spPr>
          <a:xfrm>
            <a:off x="658368" y="4352544"/>
            <a:ext cx="7040880" cy="457200"/>
          </a:xfrm>
          <a:prstGeom prst="rect">
            <a:avLst/>
          </a:prstGeom>
          <a:noFill/>
          <a:ln/>
        </p:spPr>
        <p:txBody>
          <a:bodyPr wrap="square" lIns="0" tIns="0" rIns="0" bIns="0" rtlCol="0" anchor="ctr"/>
          <a:lstStyle/>
          <a:p>
            <a:pPr indent="0" marL="0">
              <a:buNone/>
            </a:pPr>
            <a:r>
              <a:rPr lang="en-US" sz="1800" dirty="0">
                <a:solidFill>
                  <a:srgbClr val="1C1917"/>
                </a:solidFill>
                <a:latin typeface="Calibri" pitchFamily="34" charset="0"/>
                <a:ea typeface="Calibri" pitchFamily="34" charset="-122"/>
                <a:cs typeface="Calibri" pitchFamily="34" charset="-120"/>
              </a:rPr>
              <a:t>A confused loop has no cap</a:t>
            </a:r>
            <a:endParaRPr lang="en-US" sz="1800" dirty="0"/>
          </a:p>
        </p:txBody>
      </p:sp>
      <p:sp>
        <p:nvSpPr>
          <p:cNvPr id="19" name="Shape 17"/>
          <p:cNvSpPr/>
          <p:nvPr/>
        </p:nvSpPr>
        <p:spPr>
          <a:xfrm>
            <a:off x="8366760" y="4224528"/>
            <a:ext cx="3364992" cy="713232"/>
          </a:xfrm>
          <a:prstGeom prst="roundRect">
            <a:avLst>
              <a:gd name="adj" fmla="val 10256"/>
            </a:avLst>
          </a:prstGeom>
          <a:solidFill>
            <a:srgbClr val="1C1917"/>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0" name="Text 18"/>
          <p:cNvSpPr txBox="1"/>
          <p:nvPr/>
        </p:nvSpPr>
        <p:spPr>
          <a:xfrm>
            <a:off x="8522208" y="4352544"/>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P7  hard limits</a:t>
            </a:r>
            <a:endParaRPr lang="en-US" sz="1500" dirty="0"/>
          </a:p>
        </p:txBody>
      </p:sp>
      <p:sp>
        <p:nvSpPr>
          <p:cNvPr id="21" name="Shape 19"/>
          <p:cNvSpPr/>
          <p:nvPr/>
        </p:nvSpPr>
        <p:spPr>
          <a:xfrm>
            <a:off x="457200" y="5212080"/>
            <a:ext cx="7452360"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2" name="Text 20"/>
          <p:cNvSpPr txBox="1"/>
          <p:nvPr/>
        </p:nvSpPr>
        <p:spPr>
          <a:xfrm>
            <a:off x="658368" y="5340096"/>
            <a:ext cx="7040880" cy="457200"/>
          </a:xfrm>
          <a:prstGeom prst="rect">
            <a:avLst/>
          </a:prstGeom>
          <a:noFill/>
          <a:ln/>
        </p:spPr>
        <p:txBody>
          <a:bodyPr wrap="square" lIns="0" tIns="0" rIns="0" bIns="0" rtlCol="0" anchor="ctr"/>
          <a:lstStyle/>
          <a:p>
            <a:pPr indent="0" marL="0">
              <a:buNone/>
            </a:pPr>
            <a:r>
              <a:rPr lang="en-US" sz="1800" dirty="0">
                <a:solidFill>
                  <a:srgbClr val="1C1917"/>
                </a:solidFill>
                <a:latin typeface="Calibri" pitchFamily="34" charset="0"/>
                <a:ea typeface="Calibri" pitchFamily="34" charset="-122"/>
                <a:cs typeface="Calibri" pitchFamily="34" charset="-120"/>
              </a:rPr>
              <a:t>A web page says "ignore previous instructions"</a:t>
            </a:r>
            <a:endParaRPr lang="en-US" sz="1800" dirty="0"/>
          </a:p>
        </p:txBody>
      </p:sp>
      <p:sp>
        <p:nvSpPr>
          <p:cNvPr id="23" name="Shape 21"/>
          <p:cNvSpPr/>
          <p:nvPr/>
        </p:nvSpPr>
        <p:spPr>
          <a:xfrm>
            <a:off x="8366760" y="5212080"/>
            <a:ext cx="3364992" cy="713232"/>
          </a:xfrm>
          <a:prstGeom prst="roundRect">
            <a:avLst>
              <a:gd name="adj" fmla="val 10256"/>
            </a:avLst>
          </a:prstGeom>
          <a:solidFill>
            <a:srgbClr val="1C1917"/>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4" name="Text 22"/>
          <p:cNvSpPr txBox="1"/>
          <p:nvPr/>
        </p:nvSpPr>
        <p:spPr>
          <a:xfrm>
            <a:off x="8522208" y="5340096"/>
            <a:ext cx="30632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P5  input distrust</a:t>
            </a:r>
            <a:endParaRPr lang="en-US" sz="1500" dirty="0"/>
          </a:p>
        </p:txBody>
      </p:sp>
      <p:sp>
        <p:nvSpPr>
          <p:cNvPr id="25" name="Text 23"/>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26" name="Text 24"/>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SETUP</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One command installs the skill</a:t>
            </a:r>
            <a:endParaRPr lang="en-US" sz="3200" dirty="0"/>
          </a:p>
        </p:txBody>
      </p:sp>
      <p:sp>
        <p:nvSpPr>
          <p:cNvPr id="5" name="Shape 3"/>
          <p:cNvSpPr/>
          <p:nvPr/>
        </p:nvSpPr>
        <p:spPr>
          <a:xfrm>
            <a:off x="457200" y="1280160"/>
            <a:ext cx="11274552" cy="1280160"/>
          </a:xfrm>
          <a:prstGeom prst="roundRect">
            <a:avLst>
              <a:gd name="adj" fmla="val 5714"/>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6" name="Shape 4"/>
          <p:cNvSpPr/>
          <p:nvPr/>
        </p:nvSpPr>
        <p:spPr>
          <a:xfrm>
            <a:off x="658368" y="1719072"/>
            <a:ext cx="384048" cy="384048"/>
          </a:xfrm>
          <a:prstGeom prst="roundRect">
            <a:avLst>
              <a:gd name="adj" fmla="val 14286"/>
            </a:avLst>
          </a:prstGeom>
          <a:solidFill>
            <a:srgbClr val="C45C26"/>
          </a:solidFill>
          <a:ln/>
        </p:spPr>
      </p:sp>
      <p:sp>
        <p:nvSpPr>
          <p:cNvPr id="7" name="Text 5"/>
          <p:cNvSpPr txBox="1"/>
          <p:nvPr/>
        </p:nvSpPr>
        <p:spPr>
          <a:xfrm>
            <a:off x="658368" y="17190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234440" y="1426464"/>
            <a:ext cx="10058400" cy="292608"/>
          </a:xfrm>
          <a:prstGeom prst="rect">
            <a:avLst/>
          </a:prstGeom>
          <a:noFill/>
          <a:ln/>
        </p:spPr>
        <p:txBody>
          <a:bodyPr wrap="square" lIns="0" tIns="0" rIns="0" bIns="0" rtlCol="0" anchor="ctr"/>
          <a:lstStyle/>
          <a:p>
            <a:pPr indent="0" marL="0">
              <a:buNone/>
            </a:pPr>
            <a:r>
              <a:rPr lang="en-US" sz="1400" b="1" dirty="0">
                <a:solidFill>
                  <a:srgbClr val="9A3412"/>
                </a:solidFill>
                <a:latin typeface="Calibri" pitchFamily="34" charset="0"/>
                <a:ea typeface="Calibri" pitchFamily="34" charset="-122"/>
                <a:cs typeface="Calibri" pitchFamily="34" charset="-120"/>
              </a:rPr>
              <a:t>Right after GitHub</a:t>
            </a:r>
            <a:endParaRPr lang="en-US" sz="1400" dirty="0"/>
          </a:p>
        </p:txBody>
      </p:sp>
      <p:sp>
        <p:nvSpPr>
          <p:cNvPr id="9" name="Text 7"/>
          <p:cNvSpPr txBox="1"/>
          <p:nvPr/>
        </p:nvSpPr>
        <p:spPr>
          <a:xfrm>
            <a:off x="1234440" y="1755648"/>
            <a:ext cx="10149840" cy="658368"/>
          </a:xfrm>
          <a:prstGeom prst="rect">
            <a:avLst/>
          </a:prstGeom>
          <a:noFill/>
          <a:ln/>
        </p:spPr>
        <p:txBody>
          <a:bodyPr wrap="square" lIns="0" tIns="0" rIns="0" bIns="0" rtlCol="0" anchor="ctr"/>
          <a:lstStyle/>
          <a:p>
            <a:pPr indent="0" marL="0">
              <a:buNone/>
            </a:pPr>
            <a:r>
              <a:rPr lang="en-US" sz="1300" dirty="0">
                <a:solidFill>
                  <a:srgbClr val="1C1917"/>
                </a:solidFill>
                <a:latin typeface="Courier New" pitchFamily="34" charset="0"/>
                <a:ea typeface="Courier New" pitchFamily="34" charset="-122"/>
                <a:cs typeface="Courier New" pitchFamily="34" charset="-120"/>
              </a:rPr>
              <a:t>uvx --from git+https://github.com/shivamrpsingh/safe-agent-harness</a:t>
            </a:r>
            <a:endParaRPr lang="en-US" sz="1300" dirty="0"/>
          </a:p>
          <a:p>
            <a:pPr indent="0" marL="0">
              <a:buNone/>
            </a:pPr>
            <a:r>
              <a:rPr lang="en-US" sz="1300" dirty="0">
                <a:solidFill>
                  <a:srgbClr val="1C1917"/>
                </a:solidFill>
                <a:latin typeface="Courier New" pitchFamily="34" charset="0"/>
                <a:ea typeface="Courier New" pitchFamily="34" charset="-122"/>
                <a:cs typeface="Courier New" pitchFamily="34" charset="-120"/>
              </a:rPr>
              <a:t>safe-agent-harness init --cursor</a:t>
            </a:r>
            <a:endParaRPr lang="en-US" sz="1300" dirty="0"/>
          </a:p>
        </p:txBody>
      </p:sp>
      <p:sp>
        <p:nvSpPr>
          <p:cNvPr id="10" name="Shape 8"/>
          <p:cNvSpPr/>
          <p:nvPr/>
        </p:nvSpPr>
        <p:spPr>
          <a:xfrm>
            <a:off x="457200" y="2852928"/>
            <a:ext cx="11274552" cy="1280160"/>
          </a:xfrm>
          <a:prstGeom prst="roundRect">
            <a:avLst>
              <a:gd name="adj" fmla="val 5714"/>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1" name="Shape 9"/>
          <p:cNvSpPr/>
          <p:nvPr/>
        </p:nvSpPr>
        <p:spPr>
          <a:xfrm>
            <a:off x="658368" y="3291840"/>
            <a:ext cx="384048" cy="384048"/>
          </a:xfrm>
          <a:prstGeom prst="roundRect">
            <a:avLst>
              <a:gd name="adj" fmla="val 14286"/>
            </a:avLst>
          </a:prstGeom>
          <a:solidFill>
            <a:srgbClr val="C45C26"/>
          </a:solidFill>
          <a:ln/>
        </p:spPr>
      </p:sp>
      <p:sp>
        <p:nvSpPr>
          <p:cNvPr id="12" name="Text 10"/>
          <p:cNvSpPr txBox="1"/>
          <p:nvPr/>
        </p:nvSpPr>
        <p:spPr>
          <a:xfrm>
            <a:off x="658368" y="3291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234440" y="2999232"/>
            <a:ext cx="10058400" cy="292608"/>
          </a:xfrm>
          <a:prstGeom prst="rect">
            <a:avLst/>
          </a:prstGeom>
          <a:noFill/>
          <a:ln/>
        </p:spPr>
        <p:txBody>
          <a:bodyPr wrap="square" lIns="0" tIns="0" rIns="0" bIns="0" rtlCol="0" anchor="ctr"/>
          <a:lstStyle/>
          <a:p>
            <a:pPr indent="0" marL="0">
              <a:buNone/>
            </a:pPr>
            <a:r>
              <a:rPr lang="en-US" sz="1400" b="1" dirty="0">
                <a:solidFill>
                  <a:srgbClr val="9A3412"/>
                </a:solidFill>
                <a:latin typeface="Calibri" pitchFamily="34" charset="0"/>
                <a:ea typeface="Calibri" pitchFamily="34" charset="-122"/>
                <a:cs typeface="Calibri" pitchFamily="34" charset="-120"/>
              </a:rPr>
              <a:t>After a PyPI release</a:t>
            </a:r>
            <a:endParaRPr lang="en-US" sz="1400" dirty="0"/>
          </a:p>
        </p:txBody>
      </p:sp>
      <p:sp>
        <p:nvSpPr>
          <p:cNvPr id="14" name="Text 12"/>
          <p:cNvSpPr txBox="1"/>
          <p:nvPr/>
        </p:nvSpPr>
        <p:spPr>
          <a:xfrm>
            <a:off x="1234440" y="3328416"/>
            <a:ext cx="10149840" cy="658368"/>
          </a:xfrm>
          <a:prstGeom prst="rect">
            <a:avLst/>
          </a:prstGeom>
          <a:noFill/>
          <a:ln/>
        </p:spPr>
        <p:txBody>
          <a:bodyPr wrap="square" lIns="0" tIns="0" rIns="0" bIns="0" rtlCol="0" anchor="ctr"/>
          <a:lstStyle/>
          <a:p>
            <a:pPr indent="0" marL="0">
              <a:buNone/>
            </a:pPr>
            <a:r>
              <a:rPr lang="en-US" sz="1300" dirty="0">
                <a:solidFill>
                  <a:srgbClr val="1C1917"/>
                </a:solidFill>
                <a:latin typeface="Courier New" pitchFamily="34" charset="0"/>
                <a:ea typeface="Courier New" pitchFamily="34" charset="-122"/>
                <a:cs typeface="Courier New" pitchFamily="34" charset="-120"/>
              </a:rPr>
              <a:t>uvx safe-agent-harness init</a:t>
            </a:r>
            <a:endParaRPr lang="en-US" sz="1300" dirty="0"/>
          </a:p>
        </p:txBody>
      </p:sp>
      <p:sp>
        <p:nvSpPr>
          <p:cNvPr id="15" name="Shape 13"/>
          <p:cNvSpPr/>
          <p:nvPr/>
        </p:nvSpPr>
        <p:spPr>
          <a:xfrm>
            <a:off x="457200" y="4425696"/>
            <a:ext cx="11274552" cy="1280160"/>
          </a:xfrm>
          <a:prstGeom prst="roundRect">
            <a:avLst>
              <a:gd name="adj" fmla="val 5714"/>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6" name="Shape 14"/>
          <p:cNvSpPr/>
          <p:nvPr/>
        </p:nvSpPr>
        <p:spPr>
          <a:xfrm>
            <a:off x="658368" y="4864608"/>
            <a:ext cx="384048" cy="384048"/>
          </a:xfrm>
          <a:prstGeom prst="roundRect">
            <a:avLst>
              <a:gd name="adj" fmla="val 14286"/>
            </a:avLst>
          </a:prstGeom>
          <a:solidFill>
            <a:srgbClr val="C45C26"/>
          </a:solidFill>
          <a:ln/>
        </p:spPr>
      </p:sp>
      <p:sp>
        <p:nvSpPr>
          <p:cNvPr id="17" name="Text 15"/>
          <p:cNvSpPr txBox="1"/>
          <p:nvPr/>
        </p:nvSpPr>
        <p:spPr>
          <a:xfrm>
            <a:off x="658368" y="4864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234440" y="4572000"/>
            <a:ext cx="10058400" cy="292608"/>
          </a:xfrm>
          <a:prstGeom prst="rect">
            <a:avLst/>
          </a:prstGeom>
          <a:noFill/>
          <a:ln/>
        </p:spPr>
        <p:txBody>
          <a:bodyPr wrap="square" lIns="0" tIns="0" rIns="0" bIns="0" rtlCol="0" anchor="ctr"/>
          <a:lstStyle/>
          <a:p>
            <a:pPr indent="0" marL="0">
              <a:buNone/>
            </a:pPr>
            <a:r>
              <a:rPr lang="en-US" sz="1400" b="1" dirty="0">
                <a:solidFill>
                  <a:srgbClr val="9A3412"/>
                </a:solidFill>
                <a:latin typeface="Calibri" pitchFamily="34" charset="0"/>
                <a:ea typeface="Calibri" pitchFamily="34" charset="-122"/>
                <a:cs typeface="Calibri" pitchFamily="34" charset="-120"/>
              </a:rPr>
              <a:t>Every editor at once</a:t>
            </a:r>
            <a:endParaRPr lang="en-US" sz="1400" dirty="0"/>
          </a:p>
        </p:txBody>
      </p:sp>
      <p:sp>
        <p:nvSpPr>
          <p:cNvPr id="19" name="Text 17"/>
          <p:cNvSpPr txBox="1"/>
          <p:nvPr/>
        </p:nvSpPr>
        <p:spPr>
          <a:xfrm>
            <a:off x="1234440" y="4901184"/>
            <a:ext cx="10149840" cy="658368"/>
          </a:xfrm>
          <a:prstGeom prst="rect">
            <a:avLst/>
          </a:prstGeom>
          <a:noFill/>
          <a:ln/>
        </p:spPr>
        <p:txBody>
          <a:bodyPr wrap="square" lIns="0" tIns="0" rIns="0" bIns="0" rtlCol="0" anchor="ctr"/>
          <a:lstStyle/>
          <a:p>
            <a:pPr indent="0" marL="0">
              <a:buNone/>
            </a:pPr>
            <a:r>
              <a:rPr lang="en-US" sz="1300" dirty="0">
                <a:solidFill>
                  <a:srgbClr val="1C1917"/>
                </a:solidFill>
                <a:latin typeface="Courier New" pitchFamily="34" charset="0"/>
                <a:ea typeface="Courier New" pitchFamily="34" charset="-122"/>
                <a:cs typeface="Courier New" pitchFamily="34" charset="-120"/>
              </a:rPr>
              <a:t>safe-agent-harness init --all</a:t>
            </a:r>
            <a:endParaRPr lang="en-US" sz="1300" dirty="0"/>
          </a:p>
        </p:txBody>
      </p:sp>
      <p:sp>
        <p:nvSpPr>
          <p:cNvPr id="20" name="Text 18"/>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21" name="Text 19"/>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WHEN TO USE THE SKILL</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Any time the task is an agent</a:t>
            </a:r>
            <a:endParaRPr lang="en-US" sz="3200" dirty="0"/>
          </a:p>
        </p:txBody>
      </p:sp>
      <p:sp>
        <p:nvSpPr>
          <p:cNvPr id="5" name="Shape 3"/>
          <p:cNvSpPr/>
          <p:nvPr/>
        </p:nvSpPr>
        <p:spPr>
          <a:xfrm>
            <a:off x="457200" y="1353312"/>
            <a:ext cx="2633472" cy="2121408"/>
          </a:xfrm>
          <a:prstGeom prst="roundRect">
            <a:avLst>
              <a:gd name="adj" fmla="val 3448"/>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6" name="Text 4"/>
          <p:cNvSpPr txBox="1"/>
          <p:nvPr/>
        </p:nvSpPr>
        <p:spPr>
          <a:xfrm>
            <a:off x="621792" y="1536192"/>
            <a:ext cx="2377440" cy="365760"/>
          </a:xfrm>
          <a:prstGeom prst="rect">
            <a:avLst/>
          </a:prstGeom>
          <a:noFill/>
          <a:ln/>
        </p:spPr>
        <p:txBody>
          <a:bodyPr wrap="square" lIns="0" tIns="0" rIns="0" bIns="0" rtlCol="0" anchor="ctr"/>
          <a:lstStyle/>
          <a:p>
            <a:pPr indent="0" marL="0">
              <a:buNone/>
            </a:pPr>
            <a:r>
              <a:rPr lang="en-US" sz="2200" b="1" dirty="0">
                <a:solidFill>
                  <a:srgbClr val="C45C26"/>
                </a:solidFill>
                <a:latin typeface="Cambria" pitchFamily="34" charset="0"/>
                <a:ea typeface="Cambria" pitchFamily="34" charset="-122"/>
                <a:cs typeface="Cambria" pitchFamily="34" charset="-120"/>
              </a:rPr>
              <a:t>01</a:t>
            </a:r>
            <a:endParaRPr lang="en-US" sz="2200" dirty="0"/>
          </a:p>
        </p:txBody>
      </p:sp>
      <p:sp>
        <p:nvSpPr>
          <p:cNvPr id="7" name="Text 5"/>
          <p:cNvSpPr txBox="1"/>
          <p:nvPr/>
        </p:nvSpPr>
        <p:spPr>
          <a:xfrm>
            <a:off x="621792" y="2039112"/>
            <a:ext cx="2304288" cy="640080"/>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New agent</a:t>
            </a:r>
            <a:endParaRPr lang="en-US" sz="1600" dirty="0"/>
          </a:p>
        </p:txBody>
      </p:sp>
      <p:sp>
        <p:nvSpPr>
          <p:cNvPr id="8" name="Text 6"/>
          <p:cNvSpPr txBox="1"/>
          <p:nvPr/>
        </p:nvSpPr>
        <p:spPr>
          <a:xfrm>
            <a:off x="621792" y="2724912"/>
            <a:ext cx="2304288" cy="50292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Harness, registry, system prompt</a:t>
            </a:r>
            <a:endParaRPr lang="en-US" sz="1300" dirty="0"/>
          </a:p>
        </p:txBody>
      </p:sp>
      <p:sp>
        <p:nvSpPr>
          <p:cNvPr id="9" name="Shape 7"/>
          <p:cNvSpPr/>
          <p:nvPr/>
        </p:nvSpPr>
        <p:spPr>
          <a:xfrm>
            <a:off x="3328416" y="1353312"/>
            <a:ext cx="2633472" cy="2121408"/>
          </a:xfrm>
          <a:prstGeom prst="roundRect">
            <a:avLst>
              <a:gd name="adj" fmla="val 3448"/>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0" name="Text 8"/>
          <p:cNvSpPr txBox="1"/>
          <p:nvPr/>
        </p:nvSpPr>
        <p:spPr>
          <a:xfrm>
            <a:off x="3493008" y="1536192"/>
            <a:ext cx="2377440" cy="365760"/>
          </a:xfrm>
          <a:prstGeom prst="rect">
            <a:avLst/>
          </a:prstGeom>
          <a:noFill/>
          <a:ln/>
        </p:spPr>
        <p:txBody>
          <a:bodyPr wrap="square" lIns="0" tIns="0" rIns="0" bIns="0" rtlCol="0" anchor="ctr"/>
          <a:lstStyle/>
          <a:p>
            <a:pPr indent="0" marL="0">
              <a:buNone/>
            </a:pPr>
            <a:r>
              <a:rPr lang="en-US" sz="2200" b="1" dirty="0">
                <a:solidFill>
                  <a:srgbClr val="C45C26"/>
                </a:solidFill>
                <a:latin typeface="Cambria" pitchFamily="34" charset="0"/>
                <a:ea typeface="Cambria" pitchFamily="34" charset="-122"/>
                <a:cs typeface="Cambria" pitchFamily="34" charset="-120"/>
              </a:rPr>
              <a:t>02</a:t>
            </a:r>
            <a:endParaRPr lang="en-US" sz="2200" dirty="0"/>
          </a:p>
        </p:txBody>
      </p:sp>
      <p:sp>
        <p:nvSpPr>
          <p:cNvPr id="11" name="Text 9"/>
          <p:cNvSpPr txBox="1"/>
          <p:nvPr/>
        </p:nvSpPr>
        <p:spPr>
          <a:xfrm>
            <a:off x="3493008" y="2039112"/>
            <a:ext cx="2304288" cy="640080"/>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Add or change a tool</a:t>
            </a:r>
            <a:endParaRPr lang="en-US" sz="1600" dirty="0"/>
          </a:p>
        </p:txBody>
      </p:sp>
      <p:sp>
        <p:nvSpPr>
          <p:cNvPr id="12" name="Text 10"/>
          <p:cNvSpPr txBox="1"/>
          <p:nvPr/>
        </p:nvSpPr>
        <p:spPr>
          <a:xfrm>
            <a:off x="3493008" y="2724912"/>
            <a:ext cx="2304288" cy="50292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Pydantic args and a risk tier</a:t>
            </a:r>
            <a:endParaRPr lang="en-US" sz="1300" dirty="0"/>
          </a:p>
        </p:txBody>
      </p:sp>
      <p:sp>
        <p:nvSpPr>
          <p:cNvPr id="13" name="Shape 11"/>
          <p:cNvSpPr/>
          <p:nvPr/>
        </p:nvSpPr>
        <p:spPr>
          <a:xfrm>
            <a:off x="6199632" y="1353312"/>
            <a:ext cx="2633472" cy="2121408"/>
          </a:xfrm>
          <a:prstGeom prst="roundRect">
            <a:avLst>
              <a:gd name="adj" fmla="val 3448"/>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4" name="Text 12"/>
          <p:cNvSpPr txBox="1"/>
          <p:nvPr/>
        </p:nvSpPr>
        <p:spPr>
          <a:xfrm>
            <a:off x="6364224" y="1536192"/>
            <a:ext cx="2377440" cy="365760"/>
          </a:xfrm>
          <a:prstGeom prst="rect">
            <a:avLst/>
          </a:prstGeom>
          <a:noFill/>
          <a:ln/>
        </p:spPr>
        <p:txBody>
          <a:bodyPr wrap="square" lIns="0" tIns="0" rIns="0" bIns="0" rtlCol="0" anchor="ctr"/>
          <a:lstStyle/>
          <a:p>
            <a:pPr indent="0" marL="0">
              <a:buNone/>
            </a:pPr>
            <a:r>
              <a:rPr lang="en-US" sz="2200" b="1" dirty="0">
                <a:solidFill>
                  <a:srgbClr val="C45C26"/>
                </a:solidFill>
                <a:latin typeface="Cambria" pitchFamily="34" charset="0"/>
                <a:ea typeface="Cambria" pitchFamily="34" charset="-122"/>
                <a:cs typeface="Cambria" pitchFamily="34" charset="-120"/>
              </a:rPr>
              <a:t>03</a:t>
            </a:r>
            <a:endParaRPr lang="en-US" sz="2200" dirty="0"/>
          </a:p>
        </p:txBody>
      </p:sp>
      <p:sp>
        <p:nvSpPr>
          <p:cNvPr id="15" name="Text 13"/>
          <p:cNvSpPr txBox="1"/>
          <p:nvPr/>
        </p:nvSpPr>
        <p:spPr>
          <a:xfrm>
            <a:off x="6364224" y="2039112"/>
            <a:ext cx="2304288" cy="640080"/>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Send, pay, delete</a:t>
            </a:r>
            <a:endParaRPr lang="en-US" sz="1600" dirty="0"/>
          </a:p>
        </p:txBody>
      </p:sp>
      <p:sp>
        <p:nvSpPr>
          <p:cNvPr id="16" name="Text 14"/>
          <p:cNvSpPr txBox="1"/>
          <p:nvPr/>
        </p:nvSpPr>
        <p:spPr>
          <a:xfrm>
            <a:off x="6364224" y="2724912"/>
            <a:ext cx="2304288" cy="50292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Irreversible, with an approver</a:t>
            </a:r>
            <a:endParaRPr lang="en-US" sz="1300" dirty="0"/>
          </a:p>
        </p:txBody>
      </p:sp>
      <p:sp>
        <p:nvSpPr>
          <p:cNvPr id="17" name="Shape 15"/>
          <p:cNvSpPr/>
          <p:nvPr/>
        </p:nvSpPr>
        <p:spPr>
          <a:xfrm>
            <a:off x="9070848" y="1353312"/>
            <a:ext cx="2633472" cy="2121408"/>
          </a:xfrm>
          <a:prstGeom prst="roundRect">
            <a:avLst>
              <a:gd name="adj" fmla="val 3448"/>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8" name="Text 16"/>
          <p:cNvSpPr txBox="1"/>
          <p:nvPr/>
        </p:nvSpPr>
        <p:spPr>
          <a:xfrm>
            <a:off x="9235440" y="1536192"/>
            <a:ext cx="2377440" cy="365760"/>
          </a:xfrm>
          <a:prstGeom prst="rect">
            <a:avLst/>
          </a:prstGeom>
          <a:noFill/>
          <a:ln/>
        </p:spPr>
        <p:txBody>
          <a:bodyPr wrap="square" lIns="0" tIns="0" rIns="0" bIns="0" rtlCol="0" anchor="ctr"/>
          <a:lstStyle/>
          <a:p>
            <a:pPr indent="0" marL="0">
              <a:buNone/>
            </a:pPr>
            <a:r>
              <a:rPr lang="en-US" sz="2200" b="1" dirty="0">
                <a:solidFill>
                  <a:srgbClr val="C45C26"/>
                </a:solidFill>
                <a:latin typeface="Cambria" pitchFamily="34" charset="0"/>
                <a:ea typeface="Cambria" pitchFamily="34" charset="-122"/>
                <a:cs typeface="Cambria" pitchFamily="34" charset="-120"/>
              </a:rPr>
              <a:t>04</a:t>
            </a:r>
            <a:endParaRPr lang="en-US" sz="2200" dirty="0"/>
          </a:p>
        </p:txBody>
      </p:sp>
      <p:sp>
        <p:nvSpPr>
          <p:cNvPr id="19" name="Text 17"/>
          <p:cNvSpPr txBox="1"/>
          <p:nvPr/>
        </p:nvSpPr>
        <p:spPr>
          <a:xfrm>
            <a:off x="9235440" y="2039112"/>
            <a:ext cx="2304288" cy="640080"/>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Web, file, email, RAG</a:t>
            </a:r>
            <a:endParaRPr lang="en-US" sz="1600" dirty="0"/>
          </a:p>
        </p:txBody>
      </p:sp>
      <p:sp>
        <p:nvSpPr>
          <p:cNvPr id="20" name="Text 18"/>
          <p:cNvSpPr txBox="1"/>
          <p:nvPr/>
        </p:nvSpPr>
        <p:spPr>
          <a:xfrm>
            <a:off x="9235440" y="2724912"/>
            <a:ext cx="2304288" cy="50292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Mark the output untrusted</a:t>
            </a:r>
            <a:endParaRPr lang="en-US" sz="1300" dirty="0"/>
          </a:p>
        </p:txBody>
      </p:sp>
      <p:sp>
        <p:nvSpPr>
          <p:cNvPr id="21" name="Shape 19"/>
          <p:cNvSpPr/>
          <p:nvPr/>
        </p:nvSpPr>
        <p:spPr>
          <a:xfrm>
            <a:off x="457200" y="3749040"/>
            <a:ext cx="2633472" cy="2121408"/>
          </a:xfrm>
          <a:prstGeom prst="roundRect">
            <a:avLst>
              <a:gd name="adj" fmla="val 3448"/>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2" name="Text 20"/>
          <p:cNvSpPr txBox="1"/>
          <p:nvPr/>
        </p:nvSpPr>
        <p:spPr>
          <a:xfrm>
            <a:off x="621792" y="3931920"/>
            <a:ext cx="2377440" cy="365760"/>
          </a:xfrm>
          <a:prstGeom prst="rect">
            <a:avLst/>
          </a:prstGeom>
          <a:noFill/>
          <a:ln/>
        </p:spPr>
        <p:txBody>
          <a:bodyPr wrap="square" lIns="0" tIns="0" rIns="0" bIns="0" rtlCol="0" anchor="ctr"/>
          <a:lstStyle/>
          <a:p>
            <a:pPr indent="0" marL="0">
              <a:buNone/>
            </a:pPr>
            <a:r>
              <a:rPr lang="en-US" sz="2200" b="1" dirty="0">
                <a:solidFill>
                  <a:srgbClr val="C45C26"/>
                </a:solidFill>
                <a:latin typeface="Cambria" pitchFamily="34" charset="0"/>
                <a:ea typeface="Cambria" pitchFamily="34" charset="-122"/>
                <a:cs typeface="Cambria" pitchFamily="34" charset="-120"/>
              </a:rPr>
              <a:t>05</a:t>
            </a:r>
            <a:endParaRPr lang="en-US" sz="2200" dirty="0"/>
          </a:p>
        </p:txBody>
      </p:sp>
      <p:sp>
        <p:nvSpPr>
          <p:cNvPr id="23" name="Text 21"/>
          <p:cNvSpPr txBox="1"/>
          <p:nvPr/>
        </p:nvSpPr>
        <p:spPr>
          <a:xfrm>
            <a:off x="621792" y="4434840"/>
            <a:ext cx="2304288" cy="640080"/>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Code or shell</a:t>
            </a:r>
            <a:endParaRPr lang="en-US" sz="1600" dirty="0"/>
          </a:p>
        </p:txBody>
      </p:sp>
      <p:sp>
        <p:nvSpPr>
          <p:cNvPr id="24" name="Text 22"/>
          <p:cNvSpPr txBox="1"/>
          <p:nvPr/>
        </p:nvSpPr>
        <p:spPr>
          <a:xfrm>
            <a:off x="621792" y="5120640"/>
            <a:ext cx="2304288" cy="50292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Docker sandbox</a:t>
            </a:r>
            <a:endParaRPr lang="en-US" sz="1300" dirty="0"/>
          </a:p>
        </p:txBody>
      </p:sp>
      <p:sp>
        <p:nvSpPr>
          <p:cNvPr id="25" name="Shape 23"/>
          <p:cNvSpPr/>
          <p:nvPr/>
        </p:nvSpPr>
        <p:spPr>
          <a:xfrm>
            <a:off x="3328416" y="3749040"/>
            <a:ext cx="2633472" cy="2121408"/>
          </a:xfrm>
          <a:prstGeom prst="roundRect">
            <a:avLst>
              <a:gd name="adj" fmla="val 3448"/>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6" name="Text 24"/>
          <p:cNvSpPr txBox="1"/>
          <p:nvPr/>
        </p:nvSpPr>
        <p:spPr>
          <a:xfrm>
            <a:off x="3493008" y="3931920"/>
            <a:ext cx="2377440" cy="365760"/>
          </a:xfrm>
          <a:prstGeom prst="rect">
            <a:avLst/>
          </a:prstGeom>
          <a:noFill/>
          <a:ln/>
        </p:spPr>
        <p:txBody>
          <a:bodyPr wrap="square" lIns="0" tIns="0" rIns="0" bIns="0" rtlCol="0" anchor="ctr"/>
          <a:lstStyle/>
          <a:p>
            <a:pPr indent="0" marL="0">
              <a:buNone/>
            </a:pPr>
            <a:r>
              <a:rPr lang="en-US" sz="2200" b="1" dirty="0">
                <a:solidFill>
                  <a:srgbClr val="C45C26"/>
                </a:solidFill>
                <a:latin typeface="Cambria" pitchFamily="34" charset="0"/>
                <a:ea typeface="Cambria" pitchFamily="34" charset="-122"/>
                <a:cs typeface="Cambria" pitchFamily="34" charset="-120"/>
              </a:rPr>
              <a:t>06</a:t>
            </a:r>
            <a:endParaRPr lang="en-US" sz="2200" dirty="0"/>
          </a:p>
        </p:txBody>
      </p:sp>
      <p:sp>
        <p:nvSpPr>
          <p:cNvPr id="27" name="Text 25"/>
          <p:cNvSpPr txBox="1"/>
          <p:nvPr/>
        </p:nvSpPr>
        <p:spPr>
          <a:xfrm>
            <a:off x="3493008" y="4434840"/>
            <a:ext cx="2304288" cy="640080"/>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Cost, loops, abuse</a:t>
            </a:r>
            <a:endParaRPr lang="en-US" sz="1600" dirty="0"/>
          </a:p>
        </p:txBody>
      </p:sp>
      <p:sp>
        <p:nvSpPr>
          <p:cNvPr id="28" name="Text 26"/>
          <p:cNvSpPr txBox="1"/>
          <p:nvPr/>
        </p:nvSpPr>
        <p:spPr>
          <a:xfrm>
            <a:off x="3493008" y="5120640"/>
            <a:ext cx="2304288" cy="50292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Budget, rate limit, kill switch</a:t>
            </a:r>
            <a:endParaRPr lang="en-US" sz="1300" dirty="0"/>
          </a:p>
        </p:txBody>
      </p:sp>
      <p:sp>
        <p:nvSpPr>
          <p:cNvPr id="29" name="Shape 27"/>
          <p:cNvSpPr/>
          <p:nvPr/>
        </p:nvSpPr>
        <p:spPr>
          <a:xfrm>
            <a:off x="6199632" y="3749040"/>
            <a:ext cx="2633472" cy="2121408"/>
          </a:xfrm>
          <a:prstGeom prst="roundRect">
            <a:avLst>
              <a:gd name="adj" fmla="val 3448"/>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30" name="Text 28"/>
          <p:cNvSpPr txBox="1"/>
          <p:nvPr/>
        </p:nvSpPr>
        <p:spPr>
          <a:xfrm>
            <a:off x="6364224" y="3931920"/>
            <a:ext cx="2377440" cy="365760"/>
          </a:xfrm>
          <a:prstGeom prst="rect">
            <a:avLst/>
          </a:prstGeom>
          <a:noFill/>
          <a:ln/>
        </p:spPr>
        <p:txBody>
          <a:bodyPr wrap="square" lIns="0" tIns="0" rIns="0" bIns="0" rtlCol="0" anchor="ctr"/>
          <a:lstStyle/>
          <a:p>
            <a:pPr indent="0" marL="0">
              <a:buNone/>
            </a:pPr>
            <a:r>
              <a:rPr lang="en-US" sz="2200" b="1" dirty="0">
                <a:solidFill>
                  <a:srgbClr val="C45C26"/>
                </a:solidFill>
                <a:latin typeface="Cambria" pitchFamily="34" charset="0"/>
                <a:ea typeface="Cambria" pitchFamily="34" charset="-122"/>
                <a:cs typeface="Cambria" pitchFamily="34" charset="-120"/>
              </a:rPr>
              <a:t>07</a:t>
            </a:r>
            <a:endParaRPr lang="en-US" sz="2200" dirty="0"/>
          </a:p>
        </p:txBody>
      </p:sp>
      <p:sp>
        <p:nvSpPr>
          <p:cNvPr id="31" name="Text 29"/>
          <p:cNvSpPr txBox="1"/>
          <p:nvPr/>
        </p:nvSpPr>
        <p:spPr>
          <a:xfrm>
            <a:off x="6364224" y="4434840"/>
            <a:ext cx="2304288" cy="640080"/>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Output leaves the process</a:t>
            </a:r>
            <a:endParaRPr lang="en-US" sz="1600" dirty="0"/>
          </a:p>
        </p:txBody>
      </p:sp>
      <p:sp>
        <p:nvSpPr>
          <p:cNvPr id="32" name="Text 30"/>
          <p:cNvSpPr txBox="1"/>
          <p:nvPr/>
        </p:nvSpPr>
        <p:spPr>
          <a:xfrm>
            <a:off x="6364224" y="5120640"/>
            <a:ext cx="2304288" cy="50292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Schema, redaction, secret block</a:t>
            </a:r>
            <a:endParaRPr lang="en-US" sz="1300" dirty="0"/>
          </a:p>
        </p:txBody>
      </p:sp>
      <p:sp>
        <p:nvSpPr>
          <p:cNvPr id="33" name="Shape 31"/>
          <p:cNvSpPr/>
          <p:nvPr/>
        </p:nvSpPr>
        <p:spPr>
          <a:xfrm>
            <a:off x="9070848" y="3749040"/>
            <a:ext cx="2633472" cy="2121408"/>
          </a:xfrm>
          <a:prstGeom prst="roundRect">
            <a:avLst>
              <a:gd name="adj" fmla="val 3448"/>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34" name="Text 32"/>
          <p:cNvSpPr txBox="1"/>
          <p:nvPr/>
        </p:nvSpPr>
        <p:spPr>
          <a:xfrm>
            <a:off x="9235440" y="3931920"/>
            <a:ext cx="2377440" cy="365760"/>
          </a:xfrm>
          <a:prstGeom prst="rect">
            <a:avLst/>
          </a:prstGeom>
          <a:noFill/>
          <a:ln/>
        </p:spPr>
        <p:txBody>
          <a:bodyPr wrap="square" lIns="0" tIns="0" rIns="0" bIns="0" rtlCol="0" anchor="ctr"/>
          <a:lstStyle/>
          <a:p>
            <a:pPr indent="0" marL="0">
              <a:buNone/>
            </a:pPr>
            <a:r>
              <a:rPr lang="en-US" sz="2200" b="1" dirty="0">
                <a:solidFill>
                  <a:srgbClr val="C45C26"/>
                </a:solidFill>
                <a:latin typeface="Cambria" pitchFamily="34" charset="0"/>
                <a:ea typeface="Cambria" pitchFamily="34" charset="-122"/>
                <a:cs typeface="Cambria" pitchFamily="34" charset="-120"/>
              </a:rPr>
              <a:t>08</a:t>
            </a:r>
            <a:endParaRPr lang="en-US" sz="2200" dirty="0"/>
          </a:p>
        </p:txBody>
      </p:sp>
      <p:sp>
        <p:nvSpPr>
          <p:cNvPr id="35" name="Text 33"/>
          <p:cNvSpPr txBox="1"/>
          <p:nvPr/>
        </p:nvSpPr>
        <p:spPr>
          <a:xfrm>
            <a:off x="9235440" y="4434840"/>
            <a:ext cx="2304288" cy="640080"/>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Review or release</a:t>
            </a:r>
            <a:endParaRPr lang="en-US" sz="1600" dirty="0"/>
          </a:p>
        </p:txBody>
      </p:sp>
      <p:sp>
        <p:nvSpPr>
          <p:cNvPr id="36" name="Text 34"/>
          <p:cNvSpPr txBox="1"/>
          <p:nvPr/>
        </p:nvSpPr>
        <p:spPr>
          <a:xfrm>
            <a:off x="9235440" y="5120640"/>
            <a:ext cx="2304288" cy="502920"/>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Evals, traces, the PR checklist</a:t>
            </a:r>
            <a:endParaRPr lang="en-US" sz="1300" dirty="0"/>
          </a:p>
        </p:txBody>
      </p:sp>
      <p:sp>
        <p:nvSpPr>
          <p:cNvPr id="37" name="Text 35"/>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38" name="Text 36"/>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HOW A REQUEST IS ROUTED</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The skill reads only what the task needs</a:t>
            </a:r>
            <a:endParaRPr lang="en-US" sz="3200" dirty="0"/>
          </a:p>
        </p:txBody>
      </p:sp>
      <p:sp>
        <p:nvSpPr>
          <p:cNvPr id="5" name="Shape 3"/>
          <p:cNvSpPr/>
          <p:nvPr/>
        </p:nvSpPr>
        <p:spPr>
          <a:xfrm>
            <a:off x="457200" y="1280160"/>
            <a:ext cx="11274552" cy="1005840"/>
          </a:xfrm>
          <a:prstGeom prst="roundRect">
            <a:avLst>
              <a:gd name="adj" fmla="val 727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6" name="Shape 4"/>
          <p:cNvSpPr/>
          <p:nvPr/>
        </p:nvSpPr>
        <p:spPr>
          <a:xfrm>
            <a:off x="658368" y="1609344"/>
            <a:ext cx="384048" cy="384048"/>
          </a:xfrm>
          <a:prstGeom prst="roundRect">
            <a:avLst>
              <a:gd name="adj" fmla="val 14286"/>
            </a:avLst>
          </a:prstGeom>
          <a:solidFill>
            <a:srgbClr val="C45C26"/>
          </a:solidFill>
          <a:ln/>
        </p:spPr>
      </p:sp>
      <p:sp>
        <p:nvSpPr>
          <p:cNvPr id="7" name="Text 5"/>
          <p:cNvSpPr txBox="1"/>
          <p:nvPr/>
        </p:nvSpPr>
        <p:spPr>
          <a:xfrm>
            <a:off x="658368" y="16093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234440" y="1426464"/>
            <a:ext cx="9875520" cy="32918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Prompt or /command</a:t>
            </a:r>
            <a:endParaRPr lang="en-US" sz="1800" dirty="0"/>
          </a:p>
        </p:txBody>
      </p:sp>
      <p:sp>
        <p:nvSpPr>
          <p:cNvPr id="9" name="Text 7"/>
          <p:cNvSpPr txBox="1"/>
          <p:nvPr/>
        </p:nvSpPr>
        <p:spPr>
          <a:xfrm>
            <a:off x="1234440" y="1792224"/>
            <a:ext cx="9875520" cy="347472"/>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new-agent, add-tool, harden, audit, review, evals, debug-trace</a:t>
            </a:r>
            <a:endParaRPr lang="en-US" sz="1500" dirty="0"/>
          </a:p>
        </p:txBody>
      </p:sp>
      <p:sp>
        <p:nvSpPr>
          <p:cNvPr id="10" name="Shape 8"/>
          <p:cNvSpPr/>
          <p:nvPr/>
        </p:nvSpPr>
        <p:spPr>
          <a:xfrm>
            <a:off x="457200" y="2542032"/>
            <a:ext cx="11274552" cy="1005840"/>
          </a:xfrm>
          <a:prstGeom prst="roundRect">
            <a:avLst>
              <a:gd name="adj" fmla="val 727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1" name="Shape 9"/>
          <p:cNvSpPr/>
          <p:nvPr/>
        </p:nvSpPr>
        <p:spPr>
          <a:xfrm>
            <a:off x="658368" y="2871216"/>
            <a:ext cx="384048" cy="384048"/>
          </a:xfrm>
          <a:prstGeom prst="roundRect">
            <a:avLst>
              <a:gd name="adj" fmla="val 14286"/>
            </a:avLst>
          </a:prstGeom>
          <a:solidFill>
            <a:srgbClr val="C45C26"/>
          </a:solidFill>
          <a:ln/>
        </p:spPr>
      </p:sp>
      <p:sp>
        <p:nvSpPr>
          <p:cNvPr id="12" name="Text 10"/>
          <p:cNvSpPr txBox="1"/>
          <p:nvPr/>
        </p:nvSpPr>
        <p:spPr>
          <a:xfrm>
            <a:off x="658368" y="28712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234440" y="2688336"/>
            <a:ext cx="9875520" cy="32918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Adapter</a:t>
            </a:r>
            <a:endParaRPr lang="en-US" sz="1800" dirty="0"/>
          </a:p>
        </p:txBody>
      </p:sp>
      <p:sp>
        <p:nvSpPr>
          <p:cNvPr id="14" name="Text 12"/>
          <p:cNvSpPr txBox="1"/>
          <p:nvPr/>
        </p:nvSpPr>
        <p:spPr>
          <a:xfrm>
            <a:off x="1234440" y="3054096"/>
            <a:ext cx="9875520" cy="347472"/>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Cursor rule, CLAUDE.md, or AGENTS.md points at SKILL.md</a:t>
            </a:r>
            <a:endParaRPr lang="en-US" sz="1500" dirty="0"/>
          </a:p>
        </p:txBody>
      </p:sp>
      <p:sp>
        <p:nvSpPr>
          <p:cNvPr id="15" name="Shape 13"/>
          <p:cNvSpPr/>
          <p:nvPr/>
        </p:nvSpPr>
        <p:spPr>
          <a:xfrm>
            <a:off x="457200" y="3803904"/>
            <a:ext cx="11274552" cy="1005840"/>
          </a:xfrm>
          <a:prstGeom prst="roundRect">
            <a:avLst>
              <a:gd name="adj" fmla="val 727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6" name="Shape 14"/>
          <p:cNvSpPr/>
          <p:nvPr/>
        </p:nvSpPr>
        <p:spPr>
          <a:xfrm>
            <a:off x="658368" y="4133088"/>
            <a:ext cx="384048" cy="384048"/>
          </a:xfrm>
          <a:prstGeom prst="roundRect">
            <a:avLst>
              <a:gd name="adj" fmla="val 14286"/>
            </a:avLst>
          </a:prstGeom>
          <a:solidFill>
            <a:srgbClr val="C45C26"/>
          </a:solidFill>
          <a:ln/>
        </p:spPr>
      </p:sp>
      <p:sp>
        <p:nvSpPr>
          <p:cNvPr id="17" name="Text 15"/>
          <p:cNvSpPr txBox="1"/>
          <p:nvPr/>
        </p:nvSpPr>
        <p:spPr>
          <a:xfrm>
            <a:off x="658368" y="41330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234440" y="3950208"/>
            <a:ext cx="9875520" cy="32918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Routing table</a:t>
            </a:r>
            <a:endParaRPr lang="en-US" sz="1800" dirty="0"/>
          </a:p>
        </p:txBody>
      </p:sp>
      <p:sp>
        <p:nvSpPr>
          <p:cNvPr id="19" name="Text 17"/>
          <p:cNvSpPr txBox="1"/>
          <p:nvPr/>
        </p:nvSpPr>
        <p:spPr>
          <a:xfrm>
            <a:off x="1234440" y="4315968"/>
            <a:ext cx="9875520" cy="347472"/>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Task maps to pointer numbers and library calls</a:t>
            </a:r>
            <a:endParaRPr lang="en-US" sz="1500" dirty="0"/>
          </a:p>
        </p:txBody>
      </p:sp>
      <p:sp>
        <p:nvSpPr>
          <p:cNvPr id="20" name="Shape 18"/>
          <p:cNvSpPr/>
          <p:nvPr/>
        </p:nvSpPr>
        <p:spPr>
          <a:xfrm>
            <a:off x="457200" y="5065776"/>
            <a:ext cx="11274552" cy="1005840"/>
          </a:xfrm>
          <a:prstGeom prst="roundRect">
            <a:avLst>
              <a:gd name="adj" fmla="val 727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1" name="Shape 19"/>
          <p:cNvSpPr/>
          <p:nvPr/>
        </p:nvSpPr>
        <p:spPr>
          <a:xfrm>
            <a:off x="658368" y="5394960"/>
            <a:ext cx="384048" cy="384048"/>
          </a:xfrm>
          <a:prstGeom prst="roundRect">
            <a:avLst>
              <a:gd name="adj" fmla="val 14286"/>
            </a:avLst>
          </a:prstGeom>
          <a:solidFill>
            <a:srgbClr val="3F6212"/>
          </a:solidFill>
          <a:ln/>
        </p:spPr>
      </p:sp>
      <p:sp>
        <p:nvSpPr>
          <p:cNvPr id="22" name="Text 20"/>
          <p:cNvSpPr txBox="1"/>
          <p:nvPr/>
        </p:nvSpPr>
        <p:spPr>
          <a:xfrm>
            <a:off x="658368" y="53949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234440" y="5212080"/>
            <a:ext cx="9875520" cy="32918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Proof</a:t>
            </a:r>
            <a:endParaRPr lang="en-US" sz="1800" dirty="0"/>
          </a:p>
        </p:txBody>
      </p:sp>
      <p:sp>
        <p:nvSpPr>
          <p:cNvPr id="24" name="Text 22"/>
          <p:cNvSpPr txBox="1"/>
          <p:nvPr/>
        </p:nvSpPr>
        <p:spPr>
          <a:xfrm>
            <a:off x="1234440" y="5577840"/>
            <a:ext cx="9875520" cy="347472"/>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pointers.md sections, the API, then the exit checklist</a:t>
            </a:r>
            <a:endParaRPr lang="en-US" sz="1500" dirty="0"/>
          </a:p>
        </p:txBody>
      </p:sp>
      <p:sp>
        <p:nvSpPr>
          <p:cNvPr id="25" name="Text 23"/>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26" name="Text 24"/>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THE TEN POINTERS</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Control the action</a:t>
            </a:r>
            <a:endParaRPr lang="en-US" sz="3200" dirty="0"/>
          </a:p>
        </p:txBody>
      </p:sp>
      <p:sp>
        <p:nvSpPr>
          <p:cNvPr id="5" name="Shape 3"/>
          <p:cNvSpPr/>
          <p:nvPr/>
        </p:nvSpPr>
        <p:spPr>
          <a:xfrm>
            <a:off x="457200" y="1243584"/>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6" name="Shape 4"/>
          <p:cNvSpPr/>
          <p:nvPr/>
        </p:nvSpPr>
        <p:spPr>
          <a:xfrm>
            <a:off x="640080" y="1417320"/>
            <a:ext cx="384048" cy="384048"/>
          </a:xfrm>
          <a:prstGeom prst="roundRect">
            <a:avLst>
              <a:gd name="adj" fmla="val 14286"/>
            </a:avLst>
          </a:prstGeom>
          <a:solidFill>
            <a:srgbClr val="C45C26"/>
          </a:solidFill>
          <a:ln/>
        </p:spPr>
      </p:sp>
      <p:sp>
        <p:nvSpPr>
          <p:cNvPr id="7" name="Text 5"/>
          <p:cNvSpPr txBox="1"/>
          <p:nvPr/>
        </p:nvSpPr>
        <p:spPr>
          <a:xfrm>
            <a:off x="640080" y="14173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207008" y="1353312"/>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Harness</a:t>
            </a:r>
            <a:endParaRPr lang="en-US" sz="1800" dirty="0"/>
          </a:p>
        </p:txBody>
      </p:sp>
      <p:sp>
        <p:nvSpPr>
          <p:cNvPr id="9" name="Text 7"/>
          <p:cNvSpPr txBox="1"/>
          <p:nvPr/>
        </p:nvSpPr>
        <p:spPr>
          <a:xfrm>
            <a:off x="4297680" y="1371600"/>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Retries, tool fallbacks, model fallbacks. Degrade honestly. Never invent a tool result.</a:t>
            </a:r>
            <a:endParaRPr lang="en-US" sz="1500" dirty="0"/>
          </a:p>
        </p:txBody>
      </p:sp>
      <p:sp>
        <p:nvSpPr>
          <p:cNvPr id="10" name="Shape 8"/>
          <p:cNvSpPr/>
          <p:nvPr/>
        </p:nvSpPr>
        <p:spPr>
          <a:xfrm>
            <a:off x="457200" y="2231136"/>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1" name="Shape 9"/>
          <p:cNvSpPr/>
          <p:nvPr/>
        </p:nvSpPr>
        <p:spPr>
          <a:xfrm>
            <a:off x="640080" y="2404872"/>
            <a:ext cx="384048" cy="384048"/>
          </a:xfrm>
          <a:prstGeom prst="roundRect">
            <a:avLst>
              <a:gd name="adj" fmla="val 14286"/>
            </a:avLst>
          </a:prstGeom>
          <a:solidFill>
            <a:srgbClr val="C45C26"/>
          </a:solidFill>
          <a:ln/>
        </p:spPr>
      </p:sp>
      <p:sp>
        <p:nvSpPr>
          <p:cNvPr id="12" name="Text 10"/>
          <p:cNvSpPr txBox="1"/>
          <p:nvPr/>
        </p:nvSpPr>
        <p:spPr>
          <a:xfrm>
            <a:off x="640080" y="24048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207008" y="2340864"/>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Narrow scope</a:t>
            </a:r>
            <a:endParaRPr lang="en-US" sz="1800" dirty="0"/>
          </a:p>
        </p:txBody>
      </p:sp>
      <p:sp>
        <p:nvSpPr>
          <p:cNvPr id="14" name="Text 12"/>
          <p:cNvSpPr txBox="1"/>
          <p:nvPr/>
        </p:nvSpPr>
        <p:spPr>
          <a:xfrm>
            <a:off x="4297680" y="2359152"/>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One job. Purpose and a never-do list in system=. A small ToolRegistry.</a:t>
            </a:r>
            <a:endParaRPr lang="en-US" sz="1500" dirty="0"/>
          </a:p>
        </p:txBody>
      </p:sp>
      <p:sp>
        <p:nvSpPr>
          <p:cNvPr id="15" name="Shape 13"/>
          <p:cNvSpPr/>
          <p:nvPr/>
        </p:nvSpPr>
        <p:spPr>
          <a:xfrm>
            <a:off x="457200" y="3218688"/>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6" name="Shape 14"/>
          <p:cNvSpPr/>
          <p:nvPr/>
        </p:nvSpPr>
        <p:spPr>
          <a:xfrm>
            <a:off x="640080" y="3392424"/>
            <a:ext cx="384048" cy="384048"/>
          </a:xfrm>
          <a:prstGeom prst="roundRect">
            <a:avLst>
              <a:gd name="adj" fmla="val 14286"/>
            </a:avLst>
          </a:prstGeom>
          <a:solidFill>
            <a:srgbClr val="C45C26"/>
          </a:solidFill>
          <a:ln/>
        </p:spPr>
      </p:sp>
      <p:sp>
        <p:nvSpPr>
          <p:cNvPr id="17" name="Text 15"/>
          <p:cNvSpPr txBox="1"/>
          <p:nvPr/>
        </p:nvSpPr>
        <p:spPr>
          <a:xfrm>
            <a:off x="640080" y="33924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207008" y="3328416"/>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Least privilege</a:t>
            </a:r>
            <a:endParaRPr lang="en-US" sz="1800" dirty="0"/>
          </a:p>
        </p:txBody>
      </p:sp>
      <p:sp>
        <p:nvSpPr>
          <p:cNvPr id="19" name="Text 17"/>
          <p:cNvSpPr txBox="1"/>
          <p:nvPr/>
        </p:nvSpPr>
        <p:spPr>
          <a:xfrm>
            <a:off x="4297680" y="3346704"/>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Strict Pydantic args. Each tool uses its own scoped credential.</a:t>
            </a:r>
            <a:endParaRPr lang="en-US" sz="1500" dirty="0"/>
          </a:p>
        </p:txBody>
      </p:sp>
      <p:sp>
        <p:nvSpPr>
          <p:cNvPr id="20" name="Shape 18"/>
          <p:cNvSpPr/>
          <p:nvPr/>
        </p:nvSpPr>
        <p:spPr>
          <a:xfrm>
            <a:off x="457200" y="4206240"/>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1" name="Shape 19"/>
          <p:cNvSpPr/>
          <p:nvPr/>
        </p:nvSpPr>
        <p:spPr>
          <a:xfrm>
            <a:off x="640080" y="4379976"/>
            <a:ext cx="384048" cy="384048"/>
          </a:xfrm>
          <a:prstGeom prst="roundRect">
            <a:avLst>
              <a:gd name="adj" fmla="val 14286"/>
            </a:avLst>
          </a:prstGeom>
          <a:solidFill>
            <a:srgbClr val="C45C26"/>
          </a:solidFill>
          <a:ln/>
        </p:spPr>
      </p:sp>
      <p:sp>
        <p:nvSpPr>
          <p:cNvPr id="22" name="Text 20"/>
          <p:cNvSpPr txBox="1"/>
          <p:nvPr/>
        </p:nvSpPr>
        <p:spPr>
          <a:xfrm>
            <a:off x="640080" y="43799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207008" y="4315968"/>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Risk tiers</a:t>
            </a:r>
            <a:endParaRPr lang="en-US" sz="1800" dirty="0"/>
          </a:p>
        </p:txBody>
      </p:sp>
      <p:sp>
        <p:nvSpPr>
          <p:cNvPr id="24" name="Text 22"/>
          <p:cNvSpPr txBox="1"/>
          <p:nvPr/>
        </p:nvSpPr>
        <p:spPr>
          <a:xfrm>
            <a:off x="4297680" y="4334256"/>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READ, WRITE, IRREVERSIBLE. Approvers fail closed. Irreversible can be refused.</a:t>
            </a:r>
            <a:endParaRPr lang="en-US" sz="1500" dirty="0"/>
          </a:p>
        </p:txBody>
      </p:sp>
      <p:sp>
        <p:nvSpPr>
          <p:cNvPr id="25" name="Shape 23"/>
          <p:cNvSpPr/>
          <p:nvPr/>
        </p:nvSpPr>
        <p:spPr>
          <a:xfrm>
            <a:off x="457200" y="5193792"/>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6" name="Shape 24"/>
          <p:cNvSpPr/>
          <p:nvPr/>
        </p:nvSpPr>
        <p:spPr>
          <a:xfrm>
            <a:off x="640080" y="5367528"/>
            <a:ext cx="384048" cy="384048"/>
          </a:xfrm>
          <a:prstGeom prst="roundRect">
            <a:avLst>
              <a:gd name="adj" fmla="val 14286"/>
            </a:avLst>
          </a:prstGeom>
          <a:solidFill>
            <a:srgbClr val="C45C26"/>
          </a:solidFill>
          <a:ln/>
        </p:spPr>
      </p:sp>
      <p:sp>
        <p:nvSpPr>
          <p:cNvPr id="27" name="Text 25"/>
          <p:cNvSpPr txBox="1"/>
          <p:nvPr/>
        </p:nvSpPr>
        <p:spPr>
          <a:xfrm>
            <a:off x="640080" y="53675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1207008" y="5303520"/>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Input distrust</a:t>
            </a:r>
            <a:endParaRPr lang="en-US" sz="1800" dirty="0"/>
          </a:p>
        </p:txBody>
      </p:sp>
      <p:sp>
        <p:nvSpPr>
          <p:cNvPr id="29" name="Text 27"/>
          <p:cNvSpPr txBox="1"/>
          <p:nvPr/>
        </p:nvSpPr>
        <p:spPr>
          <a:xfrm>
            <a:off x="4297680" y="5321808"/>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untrusted_output=True wraps web, file, email, and RAG text as data.</a:t>
            </a:r>
            <a:endParaRPr lang="en-US" sz="1500" dirty="0"/>
          </a:p>
        </p:txBody>
      </p:sp>
      <p:sp>
        <p:nvSpPr>
          <p:cNvPr id="30" name="Text 28"/>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31" name="Text 29"/>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THE TEN POINTERS</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Bound the blast radius</a:t>
            </a:r>
            <a:endParaRPr lang="en-US" sz="3200" dirty="0"/>
          </a:p>
        </p:txBody>
      </p:sp>
      <p:sp>
        <p:nvSpPr>
          <p:cNvPr id="5" name="Shape 3"/>
          <p:cNvSpPr/>
          <p:nvPr/>
        </p:nvSpPr>
        <p:spPr>
          <a:xfrm>
            <a:off x="457200" y="1243584"/>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6" name="Shape 4"/>
          <p:cNvSpPr/>
          <p:nvPr/>
        </p:nvSpPr>
        <p:spPr>
          <a:xfrm>
            <a:off x="640080" y="1417320"/>
            <a:ext cx="384048" cy="384048"/>
          </a:xfrm>
          <a:prstGeom prst="roundRect">
            <a:avLst>
              <a:gd name="adj" fmla="val 14286"/>
            </a:avLst>
          </a:prstGeom>
          <a:solidFill>
            <a:srgbClr val="3F6212"/>
          </a:solidFill>
          <a:ln/>
        </p:spPr>
      </p:sp>
      <p:sp>
        <p:nvSpPr>
          <p:cNvPr id="7" name="Text 5"/>
          <p:cNvSpPr txBox="1"/>
          <p:nvPr/>
        </p:nvSpPr>
        <p:spPr>
          <a:xfrm>
            <a:off x="640080" y="14173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8" name="Text 6"/>
          <p:cNvSpPr txBox="1"/>
          <p:nvPr/>
        </p:nvSpPr>
        <p:spPr>
          <a:xfrm>
            <a:off x="1207008" y="1353312"/>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Sandbox</a:t>
            </a:r>
            <a:endParaRPr lang="en-US" sz="1800" dirty="0"/>
          </a:p>
        </p:txBody>
      </p:sp>
      <p:sp>
        <p:nvSpPr>
          <p:cNvPr id="9" name="Text 7"/>
          <p:cNvSpPr txBox="1"/>
          <p:nvPr/>
        </p:nvSpPr>
        <p:spPr>
          <a:xfrm>
            <a:off x="4297680" y="1371600"/>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run_in_sandbox(use_docker=True). No network, read-only, CPU and memory caps.</a:t>
            </a:r>
            <a:endParaRPr lang="en-US" sz="1500" dirty="0"/>
          </a:p>
        </p:txBody>
      </p:sp>
      <p:sp>
        <p:nvSpPr>
          <p:cNvPr id="10" name="Shape 8"/>
          <p:cNvSpPr/>
          <p:nvPr/>
        </p:nvSpPr>
        <p:spPr>
          <a:xfrm>
            <a:off x="457200" y="2231136"/>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1" name="Shape 9"/>
          <p:cNvSpPr/>
          <p:nvPr/>
        </p:nvSpPr>
        <p:spPr>
          <a:xfrm>
            <a:off x="640080" y="2404872"/>
            <a:ext cx="384048" cy="384048"/>
          </a:xfrm>
          <a:prstGeom prst="roundRect">
            <a:avLst>
              <a:gd name="adj" fmla="val 14286"/>
            </a:avLst>
          </a:prstGeom>
          <a:solidFill>
            <a:srgbClr val="3F6212"/>
          </a:solidFill>
          <a:ln/>
        </p:spPr>
      </p:sp>
      <p:sp>
        <p:nvSpPr>
          <p:cNvPr id="12" name="Text 10"/>
          <p:cNvSpPr txBox="1"/>
          <p:nvPr/>
        </p:nvSpPr>
        <p:spPr>
          <a:xfrm>
            <a:off x="640080" y="24048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13" name="Text 11"/>
          <p:cNvSpPr txBox="1"/>
          <p:nvPr/>
        </p:nvSpPr>
        <p:spPr>
          <a:xfrm>
            <a:off x="1207008" y="2340864"/>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Hard limits</a:t>
            </a:r>
            <a:endParaRPr lang="en-US" sz="1800" dirty="0"/>
          </a:p>
        </p:txBody>
      </p:sp>
      <p:sp>
        <p:nvSpPr>
          <p:cNvPr id="14" name="Text 12"/>
          <p:cNvSpPr txBox="1"/>
          <p:nvPr/>
        </p:nvSpPr>
        <p:spPr>
          <a:xfrm>
            <a:off x="4297680" y="2359152"/>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Budget for steps, tokens, and seconds. RateLimiter. AGENT_KILL_SWITCH=1.</a:t>
            </a:r>
            <a:endParaRPr lang="en-US" sz="1500" dirty="0"/>
          </a:p>
        </p:txBody>
      </p:sp>
      <p:sp>
        <p:nvSpPr>
          <p:cNvPr id="15" name="Shape 13"/>
          <p:cNvSpPr/>
          <p:nvPr/>
        </p:nvSpPr>
        <p:spPr>
          <a:xfrm>
            <a:off x="457200" y="3218688"/>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6" name="Shape 14"/>
          <p:cNvSpPr/>
          <p:nvPr/>
        </p:nvSpPr>
        <p:spPr>
          <a:xfrm>
            <a:off x="640080" y="3392424"/>
            <a:ext cx="384048" cy="384048"/>
          </a:xfrm>
          <a:prstGeom prst="roundRect">
            <a:avLst>
              <a:gd name="adj" fmla="val 14286"/>
            </a:avLst>
          </a:prstGeom>
          <a:solidFill>
            <a:srgbClr val="3F6212"/>
          </a:solidFill>
          <a:ln/>
        </p:spPr>
      </p:sp>
      <p:sp>
        <p:nvSpPr>
          <p:cNvPr id="17" name="Text 15"/>
          <p:cNvSpPr txBox="1"/>
          <p:nvPr/>
        </p:nvSpPr>
        <p:spPr>
          <a:xfrm>
            <a:off x="640080" y="33924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18" name="Text 16"/>
          <p:cNvSpPr txBox="1"/>
          <p:nvPr/>
        </p:nvSpPr>
        <p:spPr>
          <a:xfrm>
            <a:off x="1207008" y="3328416"/>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Output check</a:t>
            </a:r>
            <a:endParaRPr lang="en-US" sz="1800" dirty="0"/>
          </a:p>
        </p:txBody>
      </p:sp>
      <p:sp>
        <p:nvSpPr>
          <p:cNvPr id="19" name="Text 17"/>
          <p:cNvSpPr txBox="1"/>
          <p:nvPr/>
        </p:nvSpPr>
        <p:spPr>
          <a:xfrm>
            <a:off x="4297680" y="3346704"/>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OutputValidator: schema, PII redaction, secret blocking, a character cap.</a:t>
            </a:r>
            <a:endParaRPr lang="en-US" sz="1500" dirty="0"/>
          </a:p>
        </p:txBody>
      </p:sp>
      <p:sp>
        <p:nvSpPr>
          <p:cNvPr id="20" name="Shape 18"/>
          <p:cNvSpPr/>
          <p:nvPr/>
        </p:nvSpPr>
        <p:spPr>
          <a:xfrm>
            <a:off x="457200" y="4206240"/>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1" name="Shape 19"/>
          <p:cNvSpPr/>
          <p:nvPr/>
        </p:nvSpPr>
        <p:spPr>
          <a:xfrm>
            <a:off x="640080" y="4379976"/>
            <a:ext cx="384048" cy="384048"/>
          </a:xfrm>
          <a:prstGeom prst="roundRect">
            <a:avLst>
              <a:gd name="adj" fmla="val 14286"/>
            </a:avLst>
          </a:prstGeom>
          <a:solidFill>
            <a:srgbClr val="3F6212"/>
          </a:solidFill>
          <a:ln/>
        </p:spPr>
      </p:sp>
      <p:sp>
        <p:nvSpPr>
          <p:cNvPr id="22" name="Text 20"/>
          <p:cNvSpPr txBox="1"/>
          <p:nvPr/>
        </p:nvSpPr>
        <p:spPr>
          <a:xfrm>
            <a:off x="640080" y="43799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23" name="Text 21"/>
          <p:cNvSpPr txBox="1"/>
          <p:nvPr/>
        </p:nvSpPr>
        <p:spPr>
          <a:xfrm>
            <a:off x="1207008" y="4315968"/>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Observability</a:t>
            </a:r>
            <a:endParaRPr lang="en-US" sz="1800" dirty="0"/>
          </a:p>
        </p:txBody>
      </p:sp>
      <p:sp>
        <p:nvSpPr>
          <p:cNvPr id="24" name="Text 22"/>
          <p:cNvSpPr txBox="1"/>
          <p:nvPr/>
        </p:nvSpPr>
        <p:spPr>
          <a:xfrm>
            <a:off x="4297680" y="4334256"/>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Tracer events for every call, approval, injection flag, and degradation.</a:t>
            </a:r>
            <a:endParaRPr lang="en-US" sz="1500" dirty="0"/>
          </a:p>
        </p:txBody>
      </p:sp>
      <p:sp>
        <p:nvSpPr>
          <p:cNvPr id="25" name="Shape 23"/>
          <p:cNvSpPr/>
          <p:nvPr/>
        </p:nvSpPr>
        <p:spPr>
          <a:xfrm>
            <a:off x="457200" y="5193792"/>
            <a:ext cx="11274552" cy="731520"/>
          </a:xfrm>
          <a:prstGeom prst="roundRect">
            <a:avLst>
              <a:gd name="adj" fmla="val 10000"/>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6" name="Shape 24"/>
          <p:cNvSpPr/>
          <p:nvPr/>
        </p:nvSpPr>
        <p:spPr>
          <a:xfrm>
            <a:off x="640080" y="5367528"/>
            <a:ext cx="384048" cy="384048"/>
          </a:xfrm>
          <a:prstGeom prst="roundRect">
            <a:avLst>
              <a:gd name="adj" fmla="val 14286"/>
            </a:avLst>
          </a:prstGeom>
          <a:solidFill>
            <a:srgbClr val="3F6212"/>
          </a:solidFill>
          <a:ln/>
        </p:spPr>
      </p:sp>
      <p:sp>
        <p:nvSpPr>
          <p:cNvPr id="27" name="Text 25"/>
          <p:cNvSpPr txBox="1"/>
          <p:nvPr/>
        </p:nvSpPr>
        <p:spPr>
          <a:xfrm>
            <a:off x="640080" y="53675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28" name="Text 26"/>
          <p:cNvSpPr txBox="1"/>
          <p:nvPr/>
        </p:nvSpPr>
        <p:spPr>
          <a:xfrm>
            <a:off x="1207008" y="5303520"/>
            <a:ext cx="3017520" cy="512064"/>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Evals</a:t>
            </a:r>
            <a:endParaRPr lang="en-US" sz="1800" dirty="0"/>
          </a:p>
        </p:txBody>
      </p:sp>
      <p:sp>
        <p:nvSpPr>
          <p:cNvPr id="29" name="Text 27"/>
          <p:cNvSpPr txBox="1"/>
          <p:nvPr/>
        </p:nvSpPr>
        <p:spPr>
          <a:xfrm>
            <a:off x="4297680" y="5321808"/>
            <a:ext cx="7178040" cy="47548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EvalCase plus run_evals(threshold=...) as a CI gate, including attacks.</a:t>
            </a:r>
            <a:endParaRPr lang="en-US" sz="1500" dirty="0"/>
          </a:p>
        </p:txBody>
      </p:sp>
      <p:sp>
        <p:nvSpPr>
          <p:cNvPr id="30" name="Text 28"/>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31" name="Text 29"/>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WHILE YOU BUILD</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Nine steps, in this order</a:t>
            </a:r>
            <a:endParaRPr lang="en-US" sz="3200" dirty="0"/>
          </a:p>
        </p:txBody>
      </p:sp>
      <p:sp>
        <p:nvSpPr>
          <p:cNvPr id="5" name="Shape 3"/>
          <p:cNvSpPr/>
          <p:nvPr/>
        </p:nvSpPr>
        <p:spPr>
          <a:xfrm>
            <a:off x="457200" y="1353312"/>
            <a:ext cx="3593592" cy="1371600"/>
          </a:xfrm>
          <a:prstGeom prst="roundRect">
            <a:avLst>
              <a:gd name="adj" fmla="val 533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6" name="Shape 4"/>
          <p:cNvSpPr/>
          <p:nvPr/>
        </p:nvSpPr>
        <p:spPr>
          <a:xfrm>
            <a:off x="621792" y="1554480"/>
            <a:ext cx="384048" cy="384048"/>
          </a:xfrm>
          <a:prstGeom prst="roundRect">
            <a:avLst>
              <a:gd name="adj" fmla="val 14286"/>
            </a:avLst>
          </a:prstGeom>
          <a:solidFill>
            <a:srgbClr val="C45C26"/>
          </a:solidFill>
          <a:ln/>
        </p:spPr>
      </p:sp>
      <p:sp>
        <p:nvSpPr>
          <p:cNvPr id="7" name="Text 5"/>
          <p:cNvSpPr txBox="1"/>
          <p:nvPr/>
        </p:nvSpPr>
        <p:spPr>
          <a:xfrm>
            <a:off x="621792" y="1554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133856" y="1572768"/>
            <a:ext cx="2788920" cy="365760"/>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Scope</a:t>
            </a:r>
            <a:endParaRPr lang="en-US" sz="1800" dirty="0"/>
          </a:p>
        </p:txBody>
      </p:sp>
      <p:sp>
        <p:nvSpPr>
          <p:cNvPr id="9" name="Text 7"/>
          <p:cNvSpPr txBox="1"/>
          <p:nvPr/>
        </p:nvSpPr>
        <p:spPr>
          <a:xfrm>
            <a:off x="640080" y="2130552"/>
            <a:ext cx="3291840" cy="41148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Purpose and never-do list</a:t>
            </a:r>
            <a:endParaRPr lang="en-US" sz="1500" dirty="0"/>
          </a:p>
        </p:txBody>
      </p:sp>
      <p:sp>
        <p:nvSpPr>
          <p:cNvPr id="10" name="Shape 8"/>
          <p:cNvSpPr/>
          <p:nvPr/>
        </p:nvSpPr>
        <p:spPr>
          <a:xfrm>
            <a:off x="4306824" y="1353312"/>
            <a:ext cx="3593592" cy="1371600"/>
          </a:xfrm>
          <a:prstGeom prst="roundRect">
            <a:avLst>
              <a:gd name="adj" fmla="val 533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1" name="Shape 9"/>
          <p:cNvSpPr/>
          <p:nvPr/>
        </p:nvSpPr>
        <p:spPr>
          <a:xfrm>
            <a:off x="4471416" y="1554480"/>
            <a:ext cx="384048" cy="384048"/>
          </a:xfrm>
          <a:prstGeom prst="roundRect">
            <a:avLst>
              <a:gd name="adj" fmla="val 14286"/>
            </a:avLst>
          </a:prstGeom>
          <a:solidFill>
            <a:srgbClr val="C45C26"/>
          </a:solidFill>
          <a:ln/>
        </p:spPr>
      </p:sp>
      <p:sp>
        <p:nvSpPr>
          <p:cNvPr id="12" name="Text 10"/>
          <p:cNvSpPr txBox="1"/>
          <p:nvPr/>
        </p:nvSpPr>
        <p:spPr>
          <a:xfrm>
            <a:off x="4471416" y="1554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4983480" y="1572768"/>
            <a:ext cx="2788920" cy="365760"/>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Tools</a:t>
            </a:r>
            <a:endParaRPr lang="en-US" sz="1800" dirty="0"/>
          </a:p>
        </p:txBody>
      </p:sp>
      <p:sp>
        <p:nvSpPr>
          <p:cNvPr id="14" name="Text 12"/>
          <p:cNvSpPr txBox="1"/>
          <p:nvPr/>
        </p:nvSpPr>
        <p:spPr>
          <a:xfrm>
            <a:off x="4489704" y="2130552"/>
            <a:ext cx="3291840" cy="41148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Schema and risk on each</a:t>
            </a:r>
            <a:endParaRPr lang="en-US" sz="1500" dirty="0"/>
          </a:p>
        </p:txBody>
      </p:sp>
      <p:sp>
        <p:nvSpPr>
          <p:cNvPr id="15" name="Shape 13"/>
          <p:cNvSpPr/>
          <p:nvPr/>
        </p:nvSpPr>
        <p:spPr>
          <a:xfrm>
            <a:off x="8156448" y="1353312"/>
            <a:ext cx="3593592" cy="1371600"/>
          </a:xfrm>
          <a:prstGeom prst="roundRect">
            <a:avLst>
              <a:gd name="adj" fmla="val 533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6" name="Shape 14"/>
          <p:cNvSpPr/>
          <p:nvPr/>
        </p:nvSpPr>
        <p:spPr>
          <a:xfrm>
            <a:off x="8321040" y="1554480"/>
            <a:ext cx="384048" cy="384048"/>
          </a:xfrm>
          <a:prstGeom prst="roundRect">
            <a:avLst>
              <a:gd name="adj" fmla="val 14286"/>
            </a:avLst>
          </a:prstGeom>
          <a:solidFill>
            <a:srgbClr val="C45C26"/>
          </a:solidFill>
          <a:ln/>
        </p:spPr>
      </p:sp>
      <p:sp>
        <p:nvSpPr>
          <p:cNvPr id="17" name="Text 15"/>
          <p:cNvSpPr txBox="1"/>
          <p:nvPr/>
        </p:nvSpPr>
        <p:spPr>
          <a:xfrm>
            <a:off x="8321040" y="1554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833104" y="1572768"/>
            <a:ext cx="2788920" cy="365760"/>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Approvals</a:t>
            </a:r>
            <a:endParaRPr lang="en-US" sz="1800" dirty="0"/>
          </a:p>
        </p:txBody>
      </p:sp>
      <p:sp>
        <p:nvSpPr>
          <p:cNvPr id="19" name="Text 17"/>
          <p:cNvSpPr txBox="1"/>
          <p:nvPr/>
        </p:nvSpPr>
        <p:spPr>
          <a:xfrm>
            <a:off x="8339328" y="2130552"/>
            <a:ext cx="3291840" cy="41148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Policy, then a human</a:t>
            </a:r>
            <a:endParaRPr lang="en-US" sz="1500" dirty="0"/>
          </a:p>
        </p:txBody>
      </p:sp>
      <p:sp>
        <p:nvSpPr>
          <p:cNvPr id="20" name="Shape 18"/>
          <p:cNvSpPr/>
          <p:nvPr/>
        </p:nvSpPr>
        <p:spPr>
          <a:xfrm>
            <a:off x="457200" y="2980944"/>
            <a:ext cx="3593592" cy="1371600"/>
          </a:xfrm>
          <a:prstGeom prst="roundRect">
            <a:avLst>
              <a:gd name="adj" fmla="val 533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1" name="Shape 19"/>
          <p:cNvSpPr/>
          <p:nvPr/>
        </p:nvSpPr>
        <p:spPr>
          <a:xfrm>
            <a:off x="621792" y="3182112"/>
            <a:ext cx="384048" cy="384048"/>
          </a:xfrm>
          <a:prstGeom prst="roundRect">
            <a:avLst>
              <a:gd name="adj" fmla="val 14286"/>
            </a:avLst>
          </a:prstGeom>
          <a:solidFill>
            <a:srgbClr val="C45C26"/>
          </a:solidFill>
          <a:ln/>
        </p:spPr>
      </p:sp>
      <p:sp>
        <p:nvSpPr>
          <p:cNvPr id="22" name="Text 20"/>
          <p:cNvSpPr txBox="1"/>
          <p:nvPr/>
        </p:nvSpPr>
        <p:spPr>
          <a:xfrm>
            <a:off x="621792" y="31821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133856" y="3200400"/>
            <a:ext cx="2788920" cy="365760"/>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Limits</a:t>
            </a:r>
            <a:endParaRPr lang="en-US" sz="1800" dirty="0"/>
          </a:p>
        </p:txBody>
      </p:sp>
      <p:sp>
        <p:nvSpPr>
          <p:cNvPr id="24" name="Text 22"/>
          <p:cNvSpPr txBox="1"/>
          <p:nvPr/>
        </p:nvSpPr>
        <p:spPr>
          <a:xfrm>
            <a:off x="640080" y="3758184"/>
            <a:ext cx="3291840" cy="41148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Budget, rate, kill switch</a:t>
            </a:r>
            <a:endParaRPr lang="en-US" sz="1500" dirty="0"/>
          </a:p>
        </p:txBody>
      </p:sp>
      <p:sp>
        <p:nvSpPr>
          <p:cNvPr id="25" name="Shape 23"/>
          <p:cNvSpPr/>
          <p:nvPr/>
        </p:nvSpPr>
        <p:spPr>
          <a:xfrm>
            <a:off x="4306824" y="2980944"/>
            <a:ext cx="3593592" cy="1371600"/>
          </a:xfrm>
          <a:prstGeom prst="roundRect">
            <a:avLst>
              <a:gd name="adj" fmla="val 533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6" name="Shape 24"/>
          <p:cNvSpPr/>
          <p:nvPr/>
        </p:nvSpPr>
        <p:spPr>
          <a:xfrm>
            <a:off x="4471416" y="3182112"/>
            <a:ext cx="384048" cy="384048"/>
          </a:xfrm>
          <a:prstGeom prst="roundRect">
            <a:avLst>
              <a:gd name="adj" fmla="val 14286"/>
            </a:avLst>
          </a:prstGeom>
          <a:solidFill>
            <a:srgbClr val="C45C26"/>
          </a:solidFill>
          <a:ln/>
        </p:spPr>
      </p:sp>
      <p:sp>
        <p:nvSpPr>
          <p:cNvPr id="27" name="Text 25"/>
          <p:cNvSpPr txBox="1"/>
          <p:nvPr/>
        </p:nvSpPr>
        <p:spPr>
          <a:xfrm>
            <a:off x="4471416" y="31821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4983480" y="3200400"/>
            <a:ext cx="2788920" cy="365760"/>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Sandbox</a:t>
            </a:r>
            <a:endParaRPr lang="en-US" sz="1800" dirty="0"/>
          </a:p>
        </p:txBody>
      </p:sp>
      <p:sp>
        <p:nvSpPr>
          <p:cNvPr id="29" name="Text 27"/>
          <p:cNvSpPr txBox="1"/>
          <p:nvPr/>
        </p:nvSpPr>
        <p:spPr>
          <a:xfrm>
            <a:off x="4489704" y="3758184"/>
            <a:ext cx="3291840" cy="41148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Docker for any code</a:t>
            </a:r>
            <a:endParaRPr lang="en-US" sz="1500" dirty="0"/>
          </a:p>
        </p:txBody>
      </p:sp>
      <p:sp>
        <p:nvSpPr>
          <p:cNvPr id="30" name="Shape 28"/>
          <p:cNvSpPr/>
          <p:nvPr/>
        </p:nvSpPr>
        <p:spPr>
          <a:xfrm>
            <a:off x="8156448" y="2980944"/>
            <a:ext cx="3593592" cy="1371600"/>
          </a:xfrm>
          <a:prstGeom prst="roundRect">
            <a:avLst>
              <a:gd name="adj" fmla="val 533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31" name="Shape 29"/>
          <p:cNvSpPr/>
          <p:nvPr/>
        </p:nvSpPr>
        <p:spPr>
          <a:xfrm>
            <a:off x="8321040" y="3182112"/>
            <a:ext cx="384048" cy="384048"/>
          </a:xfrm>
          <a:prstGeom prst="roundRect">
            <a:avLst>
              <a:gd name="adj" fmla="val 14286"/>
            </a:avLst>
          </a:prstGeom>
          <a:solidFill>
            <a:srgbClr val="C45C26"/>
          </a:solidFill>
          <a:ln/>
        </p:spPr>
      </p:sp>
      <p:sp>
        <p:nvSpPr>
          <p:cNvPr id="32" name="Text 30"/>
          <p:cNvSpPr txBox="1"/>
          <p:nvPr/>
        </p:nvSpPr>
        <p:spPr>
          <a:xfrm>
            <a:off x="8321040" y="31821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833104" y="3200400"/>
            <a:ext cx="2788920" cy="365760"/>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Untrusted input</a:t>
            </a:r>
            <a:endParaRPr lang="en-US" sz="1800" dirty="0"/>
          </a:p>
        </p:txBody>
      </p:sp>
      <p:sp>
        <p:nvSpPr>
          <p:cNvPr id="34" name="Text 32"/>
          <p:cNvSpPr txBox="1"/>
          <p:nvPr/>
        </p:nvSpPr>
        <p:spPr>
          <a:xfrm>
            <a:off x="8339328" y="3758184"/>
            <a:ext cx="3291840" cy="41148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Wrap external text</a:t>
            </a:r>
            <a:endParaRPr lang="en-US" sz="1500" dirty="0"/>
          </a:p>
        </p:txBody>
      </p:sp>
      <p:sp>
        <p:nvSpPr>
          <p:cNvPr id="35" name="Shape 33"/>
          <p:cNvSpPr/>
          <p:nvPr/>
        </p:nvSpPr>
        <p:spPr>
          <a:xfrm>
            <a:off x="457200" y="4608576"/>
            <a:ext cx="3593592" cy="1371600"/>
          </a:xfrm>
          <a:prstGeom prst="roundRect">
            <a:avLst>
              <a:gd name="adj" fmla="val 533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36" name="Shape 34"/>
          <p:cNvSpPr/>
          <p:nvPr/>
        </p:nvSpPr>
        <p:spPr>
          <a:xfrm>
            <a:off x="621792" y="4809744"/>
            <a:ext cx="384048" cy="384048"/>
          </a:xfrm>
          <a:prstGeom prst="roundRect">
            <a:avLst>
              <a:gd name="adj" fmla="val 14286"/>
            </a:avLst>
          </a:prstGeom>
          <a:solidFill>
            <a:srgbClr val="C45C26"/>
          </a:solidFill>
          <a:ln/>
        </p:spPr>
      </p:sp>
      <p:sp>
        <p:nvSpPr>
          <p:cNvPr id="37" name="Text 35"/>
          <p:cNvSpPr txBox="1"/>
          <p:nvPr/>
        </p:nvSpPr>
        <p:spPr>
          <a:xfrm>
            <a:off x="621792" y="48097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8" name="Text 36"/>
          <p:cNvSpPr txBox="1"/>
          <p:nvPr/>
        </p:nvSpPr>
        <p:spPr>
          <a:xfrm>
            <a:off x="1133856" y="4828032"/>
            <a:ext cx="2788920" cy="365760"/>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Output</a:t>
            </a:r>
            <a:endParaRPr lang="en-US" sz="1800" dirty="0"/>
          </a:p>
        </p:txBody>
      </p:sp>
      <p:sp>
        <p:nvSpPr>
          <p:cNvPr id="39" name="Text 37"/>
          <p:cNvSpPr txBox="1"/>
          <p:nvPr/>
        </p:nvSpPr>
        <p:spPr>
          <a:xfrm>
            <a:off x="640080" y="5385816"/>
            <a:ext cx="3291840" cy="41148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Validator on the harness</a:t>
            </a:r>
            <a:endParaRPr lang="en-US" sz="1500" dirty="0"/>
          </a:p>
        </p:txBody>
      </p:sp>
      <p:sp>
        <p:nvSpPr>
          <p:cNvPr id="40" name="Shape 38"/>
          <p:cNvSpPr/>
          <p:nvPr/>
        </p:nvSpPr>
        <p:spPr>
          <a:xfrm>
            <a:off x="4306824" y="4608576"/>
            <a:ext cx="3593592" cy="1371600"/>
          </a:xfrm>
          <a:prstGeom prst="roundRect">
            <a:avLst>
              <a:gd name="adj" fmla="val 533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41" name="Shape 39"/>
          <p:cNvSpPr/>
          <p:nvPr/>
        </p:nvSpPr>
        <p:spPr>
          <a:xfrm>
            <a:off x="4471416" y="4809744"/>
            <a:ext cx="384048" cy="384048"/>
          </a:xfrm>
          <a:prstGeom prst="roundRect">
            <a:avLst>
              <a:gd name="adj" fmla="val 14286"/>
            </a:avLst>
          </a:prstGeom>
          <a:solidFill>
            <a:srgbClr val="C45C26"/>
          </a:solidFill>
          <a:ln/>
        </p:spPr>
      </p:sp>
      <p:sp>
        <p:nvSpPr>
          <p:cNvPr id="42" name="Text 40"/>
          <p:cNvSpPr txBox="1"/>
          <p:nvPr/>
        </p:nvSpPr>
        <p:spPr>
          <a:xfrm>
            <a:off x="4471416" y="48097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3" name="Text 41"/>
          <p:cNvSpPr txBox="1"/>
          <p:nvPr/>
        </p:nvSpPr>
        <p:spPr>
          <a:xfrm>
            <a:off x="4983480" y="4828032"/>
            <a:ext cx="2788920" cy="365760"/>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Tracing</a:t>
            </a:r>
            <a:endParaRPr lang="en-US" sz="1800" dirty="0"/>
          </a:p>
        </p:txBody>
      </p:sp>
      <p:sp>
        <p:nvSpPr>
          <p:cNvPr id="44" name="Text 42"/>
          <p:cNvSpPr txBox="1"/>
          <p:nvPr/>
        </p:nvSpPr>
        <p:spPr>
          <a:xfrm>
            <a:off x="4489704" y="5385816"/>
            <a:ext cx="3291840" cy="41148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A real sink</a:t>
            </a:r>
            <a:endParaRPr lang="en-US" sz="1500" dirty="0"/>
          </a:p>
        </p:txBody>
      </p:sp>
      <p:sp>
        <p:nvSpPr>
          <p:cNvPr id="45" name="Shape 43"/>
          <p:cNvSpPr/>
          <p:nvPr/>
        </p:nvSpPr>
        <p:spPr>
          <a:xfrm>
            <a:off x="8156448" y="4608576"/>
            <a:ext cx="3593592" cy="1371600"/>
          </a:xfrm>
          <a:prstGeom prst="roundRect">
            <a:avLst>
              <a:gd name="adj" fmla="val 5333"/>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46" name="Shape 44"/>
          <p:cNvSpPr/>
          <p:nvPr/>
        </p:nvSpPr>
        <p:spPr>
          <a:xfrm>
            <a:off x="8321040" y="4809744"/>
            <a:ext cx="384048" cy="384048"/>
          </a:xfrm>
          <a:prstGeom prst="roundRect">
            <a:avLst>
              <a:gd name="adj" fmla="val 14286"/>
            </a:avLst>
          </a:prstGeom>
          <a:solidFill>
            <a:srgbClr val="C45C26"/>
          </a:solidFill>
          <a:ln/>
        </p:spPr>
      </p:sp>
      <p:sp>
        <p:nvSpPr>
          <p:cNvPr id="47" name="Text 45"/>
          <p:cNvSpPr txBox="1"/>
          <p:nvPr/>
        </p:nvSpPr>
        <p:spPr>
          <a:xfrm>
            <a:off x="8321040" y="48097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8" name="Text 46"/>
          <p:cNvSpPr txBox="1"/>
          <p:nvPr/>
        </p:nvSpPr>
        <p:spPr>
          <a:xfrm>
            <a:off x="8833104" y="4828032"/>
            <a:ext cx="2788920" cy="365760"/>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Evals</a:t>
            </a:r>
            <a:endParaRPr lang="en-US" sz="1800" dirty="0"/>
          </a:p>
        </p:txBody>
      </p:sp>
      <p:sp>
        <p:nvSpPr>
          <p:cNvPr id="49" name="Text 47"/>
          <p:cNvSpPr txBox="1"/>
          <p:nvPr/>
        </p:nvSpPr>
        <p:spPr>
          <a:xfrm>
            <a:off x="8339328" y="5385816"/>
            <a:ext cx="3291840" cy="41148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Attacks gate CI</a:t>
            </a:r>
            <a:endParaRPr lang="en-US" sz="1500" dirty="0"/>
          </a:p>
        </p:txBody>
      </p:sp>
      <p:sp>
        <p:nvSpPr>
          <p:cNvPr id="50" name="Text 48"/>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51" name="Text 49"/>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SLASH COMMANDS</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Seven ways to invoke it</a:t>
            </a:r>
            <a:endParaRPr lang="en-US" sz="3200" dirty="0"/>
          </a:p>
        </p:txBody>
      </p:sp>
      <p:sp>
        <p:nvSpPr>
          <p:cNvPr id="5" name="Shape 3"/>
          <p:cNvSpPr/>
          <p:nvPr/>
        </p:nvSpPr>
        <p:spPr>
          <a:xfrm>
            <a:off x="457200" y="1170432"/>
            <a:ext cx="11274552" cy="585216"/>
          </a:xfrm>
          <a:prstGeom prst="roundRect">
            <a:avLst>
              <a:gd name="adj" fmla="val 9375"/>
            </a:avLst>
          </a:prstGeom>
          <a:solidFill>
            <a:srgbClr val="F4F7F8"/>
          </a:solidFill>
          <a:ln/>
        </p:spPr>
      </p:sp>
      <p:sp>
        <p:nvSpPr>
          <p:cNvPr id="6" name="Text 4"/>
          <p:cNvSpPr txBox="1"/>
          <p:nvPr/>
        </p:nvSpPr>
        <p:spPr>
          <a:xfrm>
            <a:off x="640080" y="1170432"/>
            <a:ext cx="2468880" cy="585216"/>
          </a:xfrm>
          <a:prstGeom prst="rect">
            <a:avLst/>
          </a:prstGeom>
          <a:noFill/>
          <a:ln/>
        </p:spPr>
        <p:txBody>
          <a:bodyPr wrap="square" lIns="0" tIns="0" rIns="0" bIns="0" rtlCol="0" anchor="ctr"/>
          <a:lstStyle/>
          <a:p>
            <a:pPr indent="0" marL="0">
              <a:buNone/>
            </a:pPr>
            <a:r>
              <a:rPr lang="en-US" sz="1400" b="1" dirty="0">
                <a:solidFill>
                  <a:srgbClr val="9A3412"/>
                </a:solidFill>
                <a:latin typeface="Courier New" pitchFamily="34" charset="0"/>
                <a:ea typeface="Courier New" pitchFamily="34" charset="-122"/>
                <a:cs typeface="Courier New" pitchFamily="34" charset="-120"/>
              </a:rPr>
              <a:t>/new-agent</a:t>
            </a:r>
            <a:endParaRPr lang="en-US" sz="1400" dirty="0"/>
          </a:p>
        </p:txBody>
      </p:sp>
      <p:sp>
        <p:nvSpPr>
          <p:cNvPr id="7" name="Text 5"/>
          <p:cNvSpPr txBox="1"/>
          <p:nvPr/>
        </p:nvSpPr>
        <p:spPr>
          <a:xfrm>
            <a:off x="3200400" y="1170432"/>
            <a:ext cx="6217920" cy="585216"/>
          </a:xfrm>
          <a:prstGeom prst="rect">
            <a:avLst/>
          </a:prstGeom>
          <a:noFill/>
          <a:ln/>
        </p:spPr>
        <p:txBody>
          <a:bodyPr wrap="square" lIns="0" tIns="0" rIns="0" bIns="0" rtlCol="0" anchor="ctr"/>
          <a:lstStyle/>
          <a:p>
            <a:pPr indent="0" marL="0">
              <a:buNone/>
            </a:pPr>
            <a:r>
              <a:rPr lang="en-US" sz="1600" dirty="0">
                <a:solidFill>
                  <a:srgbClr val="1C1917"/>
                </a:solidFill>
                <a:latin typeface="Calibri" pitchFamily="34" charset="0"/>
                <a:ea typeface="Calibri" pitchFamily="34" charset="-122"/>
                <a:cs typeface="Calibri" pitchFamily="34" charset="-120"/>
              </a:rPr>
              <a:t>Scaffold a safe agent and tests</a:t>
            </a:r>
            <a:endParaRPr lang="en-US" sz="1600" dirty="0"/>
          </a:p>
        </p:txBody>
      </p:sp>
      <p:sp>
        <p:nvSpPr>
          <p:cNvPr id="8" name="Text 6"/>
          <p:cNvSpPr txBox="1"/>
          <p:nvPr/>
        </p:nvSpPr>
        <p:spPr>
          <a:xfrm>
            <a:off x="9509760" y="1170432"/>
            <a:ext cx="2011680" cy="585216"/>
          </a:xfrm>
          <a:prstGeom prst="rect">
            <a:avLst/>
          </a:prstGeom>
          <a:noFill/>
          <a:ln/>
        </p:spPr>
        <p:txBody>
          <a:bodyPr wrap="square" lIns="0" tIns="0" rIns="0" bIns="0" rtlCol="0" anchor="ctr"/>
          <a:lstStyle/>
          <a:p>
            <a:pPr algn="r" indent="0" marL="0">
              <a:buNone/>
            </a:pPr>
            <a:r>
              <a:rPr lang="en-US" sz="1400" b="1" dirty="0">
                <a:solidFill>
                  <a:srgbClr val="3F6212"/>
                </a:solidFill>
                <a:latin typeface="Calibri" pitchFamily="34" charset="0"/>
                <a:ea typeface="Calibri" pitchFamily="34" charset="-122"/>
                <a:cs typeface="Calibri" pitchFamily="34" charset="-120"/>
              </a:rPr>
              <a:t>1, 2, 4</a:t>
            </a:r>
            <a:endParaRPr lang="en-US" sz="1400" dirty="0"/>
          </a:p>
        </p:txBody>
      </p:sp>
      <p:sp>
        <p:nvSpPr>
          <p:cNvPr id="9" name="Shape 7"/>
          <p:cNvSpPr/>
          <p:nvPr/>
        </p:nvSpPr>
        <p:spPr>
          <a:xfrm>
            <a:off x="457200" y="1901952"/>
            <a:ext cx="11274552" cy="585216"/>
          </a:xfrm>
          <a:prstGeom prst="roundRect">
            <a:avLst>
              <a:gd name="adj" fmla="val 9375"/>
            </a:avLst>
          </a:prstGeom>
          <a:solidFill>
            <a:srgbClr val="EEF3F4"/>
          </a:solidFill>
          <a:ln/>
        </p:spPr>
      </p:sp>
      <p:sp>
        <p:nvSpPr>
          <p:cNvPr id="10" name="Text 8"/>
          <p:cNvSpPr txBox="1"/>
          <p:nvPr/>
        </p:nvSpPr>
        <p:spPr>
          <a:xfrm>
            <a:off x="640080" y="1901952"/>
            <a:ext cx="2468880" cy="585216"/>
          </a:xfrm>
          <a:prstGeom prst="rect">
            <a:avLst/>
          </a:prstGeom>
          <a:noFill/>
          <a:ln/>
        </p:spPr>
        <p:txBody>
          <a:bodyPr wrap="square" lIns="0" tIns="0" rIns="0" bIns="0" rtlCol="0" anchor="ctr"/>
          <a:lstStyle/>
          <a:p>
            <a:pPr indent="0" marL="0">
              <a:buNone/>
            </a:pPr>
            <a:r>
              <a:rPr lang="en-US" sz="1400" b="1" dirty="0">
                <a:solidFill>
                  <a:srgbClr val="9A3412"/>
                </a:solidFill>
                <a:latin typeface="Courier New" pitchFamily="34" charset="0"/>
                <a:ea typeface="Courier New" pitchFamily="34" charset="-122"/>
                <a:cs typeface="Courier New" pitchFamily="34" charset="-120"/>
              </a:rPr>
              <a:t>/add-tool</a:t>
            </a:r>
            <a:endParaRPr lang="en-US" sz="1400" dirty="0"/>
          </a:p>
        </p:txBody>
      </p:sp>
      <p:sp>
        <p:nvSpPr>
          <p:cNvPr id="11" name="Text 9"/>
          <p:cNvSpPr txBox="1"/>
          <p:nvPr/>
        </p:nvSpPr>
        <p:spPr>
          <a:xfrm>
            <a:off x="3200400" y="1901952"/>
            <a:ext cx="6217920" cy="585216"/>
          </a:xfrm>
          <a:prstGeom prst="rect">
            <a:avLst/>
          </a:prstGeom>
          <a:noFill/>
          <a:ln/>
        </p:spPr>
        <p:txBody>
          <a:bodyPr wrap="square" lIns="0" tIns="0" rIns="0" bIns="0" rtlCol="0" anchor="ctr"/>
          <a:lstStyle/>
          <a:p>
            <a:pPr indent="0" marL="0">
              <a:buNone/>
            </a:pPr>
            <a:r>
              <a:rPr lang="en-US" sz="1600" dirty="0">
                <a:solidFill>
                  <a:srgbClr val="1C1917"/>
                </a:solidFill>
                <a:latin typeface="Calibri" pitchFamily="34" charset="0"/>
                <a:ea typeface="Calibri" pitchFamily="34" charset="-122"/>
                <a:cs typeface="Calibri" pitchFamily="34" charset="-120"/>
              </a:rPr>
              <a:t>Add a validated, risk-tiered tool</a:t>
            </a:r>
            <a:endParaRPr lang="en-US" sz="1600" dirty="0"/>
          </a:p>
        </p:txBody>
      </p:sp>
      <p:sp>
        <p:nvSpPr>
          <p:cNvPr id="12" name="Text 10"/>
          <p:cNvSpPr txBox="1"/>
          <p:nvPr/>
        </p:nvSpPr>
        <p:spPr>
          <a:xfrm>
            <a:off x="9509760" y="1901952"/>
            <a:ext cx="2011680" cy="585216"/>
          </a:xfrm>
          <a:prstGeom prst="rect">
            <a:avLst/>
          </a:prstGeom>
          <a:noFill/>
          <a:ln/>
        </p:spPr>
        <p:txBody>
          <a:bodyPr wrap="square" lIns="0" tIns="0" rIns="0" bIns="0" rtlCol="0" anchor="ctr"/>
          <a:lstStyle/>
          <a:p>
            <a:pPr algn="r" indent="0" marL="0">
              <a:buNone/>
            </a:pPr>
            <a:r>
              <a:rPr lang="en-US" sz="1400" b="1" dirty="0">
                <a:solidFill>
                  <a:srgbClr val="3F6212"/>
                </a:solidFill>
                <a:latin typeface="Calibri" pitchFamily="34" charset="0"/>
                <a:ea typeface="Calibri" pitchFamily="34" charset="-122"/>
                <a:cs typeface="Calibri" pitchFamily="34" charset="-120"/>
              </a:rPr>
              <a:t>3, 4, 5</a:t>
            </a:r>
            <a:endParaRPr lang="en-US" sz="1400" dirty="0"/>
          </a:p>
        </p:txBody>
      </p:sp>
      <p:sp>
        <p:nvSpPr>
          <p:cNvPr id="13" name="Shape 11"/>
          <p:cNvSpPr/>
          <p:nvPr/>
        </p:nvSpPr>
        <p:spPr>
          <a:xfrm>
            <a:off x="457200" y="2633472"/>
            <a:ext cx="11274552" cy="585216"/>
          </a:xfrm>
          <a:prstGeom prst="roundRect">
            <a:avLst>
              <a:gd name="adj" fmla="val 9375"/>
            </a:avLst>
          </a:prstGeom>
          <a:solidFill>
            <a:srgbClr val="F4F7F8"/>
          </a:solidFill>
          <a:ln/>
        </p:spPr>
      </p:sp>
      <p:sp>
        <p:nvSpPr>
          <p:cNvPr id="14" name="Text 12"/>
          <p:cNvSpPr txBox="1"/>
          <p:nvPr/>
        </p:nvSpPr>
        <p:spPr>
          <a:xfrm>
            <a:off x="640080" y="2633472"/>
            <a:ext cx="2468880" cy="585216"/>
          </a:xfrm>
          <a:prstGeom prst="rect">
            <a:avLst/>
          </a:prstGeom>
          <a:noFill/>
          <a:ln/>
        </p:spPr>
        <p:txBody>
          <a:bodyPr wrap="square" lIns="0" tIns="0" rIns="0" bIns="0" rtlCol="0" anchor="ctr"/>
          <a:lstStyle/>
          <a:p>
            <a:pPr indent="0" marL="0">
              <a:buNone/>
            </a:pPr>
            <a:r>
              <a:rPr lang="en-US" sz="1400" b="1" dirty="0">
                <a:solidFill>
                  <a:srgbClr val="9A3412"/>
                </a:solidFill>
                <a:latin typeface="Courier New" pitchFamily="34" charset="0"/>
                <a:ea typeface="Courier New" pitchFamily="34" charset="-122"/>
                <a:cs typeface="Courier New" pitchFamily="34" charset="-120"/>
              </a:rPr>
              <a:t>/harden</a:t>
            </a:r>
            <a:endParaRPr lang="en-US" sz="1400" dirty="0"/>
          </a:p>
        </p:txBody>
      </p:sp>
      <p:sp>
        <p:nvSpPr>
          <p:cNvPr id="15" name="Text 13"/>
          <p:cNvSpPr txBox="1"/>
          <p:nvPr/>
        </p:nvSpPr>
        <p:spPr>
          <a:xfrm>
            <a:off x="3200400" y="2633472"/>
            <a:ext cx="6217920" cy="585216"/>
          </a:xfrm>
          <a:prstGeom prst="rect">
            <a:avLst/>
          </a:prstGeom>
          <a:noFill/>
          <a:ln/>
        </p:spPr>
        <p:txBody>
          <a:bodyPr wrap="square" lIns="0" tIns="0" rIns="0" bIns="0" rtlCol="0" anchor="ctr"/>
          <a:lstStyle/>
          <a:p>
            <a:pPr indent="0" marL="0">
              <a:buNone/>
            </a:pPr>
            <a:r>
              <a:rPr lang="en-US" sz="1600" dirty="0">
                <a:solidFill>
                  <a:srgbClr val="1C1917"/>
                </a:solidFill>
                <a:latin typeface="Calibri" pitchFamily="34" charset="0"/>
                <a:ea typeface="Calibri" pitchFamily="34" charset="-122"/>
                <a:cs typeface="Calibri" pitchFamily="34" charset="-120"/>
              </a:rPr>
              <a:t>Injection, sandbox, limits, output</a:t>
            </a:r>
            <a:endParaRPr lang="en-US" sz="1600" dirty="0"/>
          </a:p>
        </p:txBody>
      </p:sp>
      <p:sp>
        <p:nvSpPr>
          <p:cNvPr id="16" name="Text 14"/>
          <p:cNvSpPr txBox="1"/>
          <p:nvPr/>
        </p:nvSpPr>
        <p:spPr>
          <a:xfrm>
            <a:off x="9509760" y="2633472"/>
            <a:ext cx="2011680" cy="585216"/>
          </a:xfrm>
          <a:prstGeom prst="rect">
            <a:avLst/>
          </a:prstGeom>
          <a:noFill/>
          <a:ln/>
        </p:spPr>
        <p:txBody>
          <a:bodyPr wrap="square" lIns="0" tIns="0" rIns="0" bIns="0" rtlCol="0" anchor="ctr"/>
          <a:lstStyle/>
          <a:p>
            <a:pPr algn="r" indent="0" marL="0">
              <a:buNone/>
            </a:pPr>
            <a:r>
              <a:rPr lang="en-US" sz="1400" b="1" dirty="0">
                <a:solidFill>
                  <a:srgbClr val="3F6212"/>
                </a:solidFill>
                <a:latin typeface="Calibri" pitchFamily="34" charset="0"/>
                <a:ea typeface="Calibri" pitchFamily="34" charset="-122"/>
                <a:cs typeface="Calibri" pitchFamily="34" charset="-120"/>
              </a:rPr>
              <a:t>5, 6, 7, 8</a:t>
            </a:r>
            <a:endParaRPr lang="en-US" sz="1400" dirty="0"/>
          </a:p>
        </p:txBody>
      </p:sp>
      <p:sp>
        <p:nvSpPr>
          <p:cNvPr id="17" name="Shape 15"/>
          <p:cNvSpPr/>
          <p:nvPr/>
        </p:nvSpPr>
        <p:spPr>
          <a:xfrm>
            <a:off x="457200" y="3364992"/>
            <a:ext cx="11274552" cy="585216"/>
          </a:xfrm>
          <a:prstGeom prst="roundRect">
            <a:avLst>
              <a:gd name="adj" fmla="val 9375"/>
            </a:avLst>
          </a:prstGeom>
          <a:solidFill>
            <a:srgbClr val="EEF3F4"/>
          </a:solidFill>
          <a:ln/>
        </p:spPr>
      </p:sp>
      <p:sp>
        <p:nvSpPr>
          <p:cNvPr id="18" name="Text 16"/>
          <p:cNvSpPr txBox="1"/>
          <p:nvPr/>
        </p:nvSpPr>
        <p:spPr>
          <a:xfrm>
            <a:off x="640080" y="3364992"/>
            <a:ext cx="2468880" cy="585216"/>
          </a:xfrm>
          <a:prstGeom prst="rect">
            <a:avLst/>
          </a:prstGeom>
          <a:noFill/>
          <a:ln/>
        </p:spPr>
        <p:txBody>
          <a:bodyPr wrap="square" lIns="0" tIns="0" rIns="0" bIns="0" rtlCol="0" anchor="ctr"/>
          <a:lstStyle/>
          <a:p>
            <a:pPr indent="0" marL="0">
              <a:buNone/>
            </a:pPr>
            <a:r>
              <a:rPr lang="en-US" sz="1400" b="1" dirty="0">
                <a:solidFill>
                  <a:srgbClr val="9A3412"/>
                </a:solidFill>
                <a:latin typeface="Courier New" pitchFamily="34" charset="0"/>
                <a:ea typeface="Courier New" pitchFamily="34" charset="-122"/>
                <a:cs typeface="Courier New" pitchFamily="34" charset="-120"/>
              </a:rPr>
              <a:t>/audit</a:t>
            </a:r>
            <a:endParaRPr lang="en-US" sz="1400" dirty="0"/>
          </a:p>
        </p:txBody>
      </p:sp>
      <p:sp>
        <p:nvSpPr>
          <p:cNvPr id="19" name="Text 17"/>
          <p:cNvSpPr txBox="1"/>
          <p:nvPr/>
        </p:nvSpPr>
        <p:spPr>
          <a:xfrm>
            <a:off x="3200400" y="3364992"/>
            <a:ext cx="6217920" cy="585216"/>
          </a:xfrm>
          <a:prstGeom prst="rect">
            <a:avLst/>
          </a:prstGeom>
          <a:noFill/>
          <a:ln/>
        </p:spPr>
        <p:txBody>
          <a:bodyPr wrap="square" lIns="0" tIns="0" rIns="0" bIns="0" rtlCol="0" anchor="ctr"/>
          <a:lstStyle/>
          <a:p>
            <a:pPr indent="0" marL="0">
              <a:buNone/>
            </a:pPr>
            <a:r>
              <a:rPr lang="en-US" sz="1600" dirty="0">
                <a:solidFill>
                  <a:srgbClr val="1C1917"/>
                </a:solidFill>
                <a:latin typeface="Calibri" pitchFamily="34" charset="0"/>
                <a:ea typeface="Calibri" pitchFamily="34" charset="-122"/>
                <a:cs typeface="Calibri" pitchFamily="34" charset="-120"/>
              </a:rPr>
              <a:t>Score P1–P10 with a fix list</a:t>
            </a:r>
            <a:endParaRPr lang="en-US" sz="1600" dirty="0"/>
          </a:p>
        </p:txBody>
      </p:sp>
      <p:sp>
        <p:nvSpPr>
          <p:cNvPr id="20" name="Text 18"/>
          <p:cNvSpPr txBox="1"/>
          <p:nvPr/>
        </p:nvSpPr>
        <p:spPr>
          <a:xfrm>
            <a:off x="9509760" y="3364992"/>
            <a:ext cx="2011680" cy="585216"/>
          </a:xfrm>
          <a:prstGeom prst="rect">
            <a:avLst/>
          </a:prstGeom>
          <a:noFill/>
          <a:ln/>
        </p:spPr>
        <p:txBody>
          <a:bodyPr wrap="square" lIns="0" tIns="0" rIns="0" bIns="0" rtlCol="0" anchor="ctr"/>
          <a:lstStyle/>
          <a:p>
            <a:pPr algn="r" indent="0" marL="0">
              <a:buNone/>
            </a:pPr>
            <a:r>
              <a:rPr lang="en-US" sz="1400" b="1" dirty="0">
                <a:solidFill>
                  <a:srgbClr val="3F6212"/>
                </a:solidFill>
                <a:latin typeface="Calibri" pitchFamily="34" charset="0"/>
                <a:ea typeface="Calibri" pitchFamily="34" charset="-122"/>
                <a:cs typeface="Calibri" pitchFamily="34" charset="-120"/>
              </a:rPr>
              <a:t>all</a:t>
            </a:r>
            <a:endParaRPr lang="en-US" sz="1400" dirty="0"/>
          </a:p>
        </p:txBody>
      </p:sp>
      <p:sp>
        <p:nvSpPr>
          <p:cNvPr id="21" name="Shape 19"/>
          <p:cNvSpPr/>
          <p:nvPr/>
        </p:nvSpPr>
        <p:spPr>
          <a:xfrm>
            <a:off x="457200" y="4096512"/>
            <a:ext cx="11274552" cy="585216"/>
          </a:xfrm>
          <a:prstGeom prst="roundRect">
            <a:avLst>
              <a:gd name="adj" fmla="val 9375"/>
            </a:avLst>
          </a:prstGeom>
          <a:solidFill>
            <a:srgbClr val="F4F7F8"/>
          </a:solidFill>
          <a:ln/>
        </p:spPr>
      </p:sp>
      <p:sp>
        <p:nvSpPr>
          <p:cNvPr id="22" name="Text 20"/>
          <p:cNvSpPr txBox="1"/>
          <p:nvPr/>
        </p:nvSpPr>
        <p:spPr>
          <a:xfrm>
            <a:off x="640080" y="4096512"/>
            <a:ext cx="2468880" cy="585216"/>
          </a:xfrm>
          <a:prstGeom prst="rect">
            <a:avLst/>
          </a:prstGeom>
          <a:noFill/>
          <a:ln/>
        </p:spPr>
        <p:txBody>
          <a:bodyPr wrap="square" lIns="0" tIns="0" rIns="0" bIns="0" rtlCol="0" anchor="ctr"/>
          <a:lstStyle/>
          <a:p>
            <a:pPr indent="0" marL="0">
              <a:buNone/>
            </a:pPr>
            <a:r>
              <a:rPr lang="en-US" sz="1400" b="1" dirty="0">
                <a:solidFill>
                  <a:srgbClr val="9A3412"/>
                </a:solidFill>
                <a:latin typeface="Courier New" pitchFamily="34" charset="0"/>
                <a:ea typeface="Courier New" pitchFamily="34" charset="-122"/>
                <a:cs typeface="Courier New" pitchFamily="34" charset="-120"/>
              </a:rPr>
              <a:t>/review-pr</a:t>
            </a:r>
            <a:endParaRPr lang="en-US" sz="1400" dirty="0"/>
          </a:p>
        </p:txBody>
      </p:sp>
      <p:sp>
        <p:nvSpPr>
          <p:cNvPr id="23" name="Text 21"/>
          <p:cNvSpPr txBox="1"/>
          <p:nvPr/>
        </p:nvSpPr>
        <p:spPr>
          <a:xfrm>
            <a:off x="3200400" y="4096512"/>
            <a:ext cx="6217920" cy="585216"/>
          </a:xfrm>
          <a:prstGeom prst="rect">
            <a:avLst/>
          </a:prstGeom>
          <a:noFill/>
          <a:ln/>
        </p:spPr>
        <p:txBody>
          <a:bodyPr wrap="square" lIns="0" tIns="0" rIns="0" bIns="0" rtlCol="0" anchor="ctr"/>
          <a:lstStyle/>
          <a:p>
            <a:pPr indent="0" marL="0">
              <a:buNone/>
            </a:pPr>
            <a:r>
              <a:rPr lang="en-US" sz="1600" dirty="0">
                <a:solidFill>
                  <a:srgbClr val="1C1917"/>
                </a:solidFill>
                <a:latin typeface="Calibri" pitchFamily="34" charset="0"/>
                <a:ea typeface="Calibri" pitchFamily="34" charset="-122"/>
                <a:cs typeface="Calibri" pitchFamily="34" charset="-120"/>
              </a:rPr>
              <a:t>Blocking and non-blocking findings</a:t>
            </a:r>
            <a:endParaRPr lang="en-US" sz="1600" dirty="0"/>
          </a:p>
        </p:txBody>
      </p:sp>
      <p:sp>
        <p:nvSpPr>
          <p:cNvPr id="24" name="Text 22"/>
          <p:cNvSpPr txBox="1"/>
          <p:nvPr/>
        </p:nvSpPr>
        <p:spPr>
          <a:xfrm>
            <a:off x="9509760" y="4096512"/>
            <a:ext cx="2011680" cy="585216"/>
          </a:xfrm>
          <a:prstGeom prst="rect">
            <a:avLst/>
          </a:prstGeom>
          <a:noFill/>
          <a:ln/>
        </p:spPr>
        <p:txBody>
          <a:bodyPr wrap="square" lIns="0" tIns="0" rIns="0" bIns="0" rtlCol="0" anchor="ctr"/>
          <a:lstStyle/>
          <a:p>
            <a:pPr algn="r" indent="0" marL="0">
              <a:buNone/>
            </a:pPr>
            <a:r>
              <a:rPr lang="en-US" sz="1400" b="1" dirty="0">
                <a:solidFill>
                  <a:srgbClr val="3F6212"/>
                </a:solidFill>
                <a:latin typeface="Calibri" pitchFamily="34" charset="0"/>
                <a:ea typeface="Calibri" pitchFamily="34" charset="-122"/>
                <a:cs typeface="Calibri" pitchFamily="34" charset="-120"/>
              </a:rPr>
              <a:t>all</a:t>
            </a:r>
            <a:endParaRPr lang="en-US" sz="1400" dirty="0"/>
          </a:p>
        </p:txBody>
      </p:sp>
      <p:sp>
        <p:nvSpPr>
          <p:cNvPr id="25" name="Shape 23"/>
          <p:cNvSpPr/>
          <p:nvPr/>
        </p:nvSpPr>
        <p:spPr>
          <a:xfrm>
            <a:off x="457200" y="4828032"/>
            <a:ext cx="11274552" cy="585216"/>
          </a:xfrm>
          <a:prstGeom prst="roundRect">
            <a:avLst>
              <a:gd name="adj" fmla="val 9375"/>
            </a:avLst>
          </a:prstGeom>
          <a:solidFill>
            <a:srgbClr val="EEF3F4"/>
          </a:solidFill>
          <a:ln/>
        </p:spPr>
      </p:sp>
      <p:sp>
        <p:nvSpPr>
          <p:cNvPr id="26" name="Text 24"/>
          <p:cNvSpPr txBox="1"/>
          <p:nvPr/>
        </p:nvSpPr>
        <p:spPr>
          <a:xfrm>
            <a:off x="640080" y="4828032"/>
            <a:ext cx="2468880" cy="585216"/>
          </a:xfrm>
          <a:prstGeom prst="rect">
            <a:avLst/>
          </a:prstGeom>
          <a:noFill/>
          <a:ln/>
        </p:spPr>
        <p:txBody>
          <a:bodyPr wrap="square" lIns="0" tIns="0" rIns="0" bIns="0" rtlCol="0" anchor="ctr"/>
          <a:lstStyle/>
          <a:p>
            <a:pPr indent="0" marL="0">
              <a:buNone/>
            </a:pPr>
            <a:r>
              <a:rPr lang="en-US" sz="1400" b="1" dirty="0">
                <a:solidFill>
                  <a:srgbClr val="9A3412"/>
                </a:solidFill>
                <a:latin typeface="Courier New" pitchFamily="34" charset="0"/>
                <a:ea typeface="Courier New" pitchFamily="34" charset="-122"/>
                <a:cs typeface="Courier New" pitchFamily="34" charset="-120"/>
              </a:rPr>
              <a:t>/evals</a:t>
            </a:r>
            <a:endParaRPr lang="en-US" sz="1400" dirty="0"/>
          </a:p>
        </p:txBody>
      </p:sp>
      <p:sp>
        <p:nvSpPr>
          <p:cNvPr id="27" name="Text 25"/>
          <p:cNvSpPr txBox="1"/>
          <p:nvPr/>
        </p:nvSpPr>
        <p:spPr>
          <a:xfrm>
            <a:off x="3200400" y="4828032"/>
            <a:ext cx="6217920" cy="585216"/>
          </a:xfrm>
          <a:prstGeom prst="rect">
            <a:avLst/>
          </a:prstGeom>
          <a:noFill/>
          <a:ln/>
        </p:spPr>
        <p:txBody>
          <a:bodyPr wrap="square" lIns="0" tIns="0" rIns="0" bIns="0" rtlCol="0" anchor="ctr"/>
          <a:lstStyle/>
          <a:p>
            <a:pPr indent="0" marL="0">
              <a:buNone/>
            </a:pPr>
            <a:r>
              <a:rPr lang="en-US" sz="1600" dirty="0">
                <a:solidFill>
                  <a:srgbClr val="1C1917"/>
                </a:solidFill>
                <a:latin typeface="Calibri" pitchFamily="34" charset="0"/>
                <a:ea typeface="Calibri" pitchFamily="34" charset="-122"/>
                <a:cs typeface="Calibri" pitchFamily="34" charset="-120"/>
              </a:rPr>
              <a:t>About 30 cases, including attacks</a:t>
            </a:r>
            <a:endParaRPr lang="en-US" sz="1600" dirty="0"/>
          </a:p>
        </p:txBody>
      </p:sp>
      <p:sp>
        <p:nvSpPr>
          <p:cNvPr id="28" name="Text 26"/>
          <p:cNvSpPr txBox="1"/>
          <p:nvPr/>
        </p:nvSpPr>
        <p:spPr>
          <a:xfrm>
            <a:off x="9509760" y="4828032"/>
            <a:ext cx="2011680" cy="585216"/>
          </a:xfrm>
          <a:prstGeom prst="rect">
            <a:avLst/>
          </a:prstGeom>
          <a:noFill/>
          <a:ln/>
        </p:spPr>
        <p:txBody>
          <a:bodyPr wrap="square" lIns="0" tIns="0" rIns="0" bIns="0" rtlCol="0" anchor="ctr"/>
          <a:lstStyle/>
          <a:p>
            <a:pPr algn="r" indent="0" marL="0">
              <a:buNone/>
            </a:pPr>
            <a:r>
              <a:rPr lang="en-US" sz="1400" b="1" dirty="0">
                <a:solidFill>
                  <a:srgbClr val="3F6212"/>
                </a:solidFill>
                <a:latin typeface="Calibri" pitchFamily="34" charset="0"/>
                <a:ea typeface="Calibri" pitchFamily="34" charset="-122"/>
                <a:cs typeface="Calibri" pitchFamily="34" charset="-120"/>
              </a:rPr>
              <a:t>10</a:t>
            </a:r>
            <a:endParaRPr lang="en-US" sz="1400" dirty="0"/>
          </a:p>
        </p:txBody>
      </p:sp>
      <p:sp>
        <p:nvSpPr>
          <p:cNvPr id="29" name="Shape 27"/>
          <p:cNvSpPr/>
          <p:nvPr/>
        </p:nvSpPr>
        <p:spPr>
          <a:xfrm>
            <a:off x="457200" y="5559552"/>
            <a:ext cx="11274552" cy="585216"/>
          </a:xfrm>
          <a:prstGeom prst="roundRect">
            <a:avLst>
              <a:gd name="adj" fmla="val 9375"/>
            </a:avLst>
          </a:prstGeom>
          <a:solidFill>
            <a:srgbClr val="F4F7F8"/>
          </a:solidFill>
          <a:ln/>
        </p:spPr>
      </p:sp>
      <p:sp>
        <p:nvSpPr>
          <p:cNvPr id="30" name="Text 28"/>
          <p:cNvSpPr txBox="1"/>
          <p:nvPr/>
        </p:nvSpPr>
        <p:spPr>
          <a:xfrm>
            <a:off x="640080" y="5559552"/>
            <a:ext cx="2468880" cy="585216"/>
          </a:xfrm>
          <a:prstGeom prst="rect">
            <a:avLst/>
          </a:prstGeom>
          <a:noFill/>
          <a:ln/>
        </p:spPr>
        <p:txBody>
          <a:bodyPr wrap="square" lIns="0" tIns="0" rIns="0" bIns="0" rtlCol="0" anchor="ctr"/>
          <a:lstStyle/>
          <a:p>
            <a:pPr indent="0" marL="0">
              <a:buNone/>
            </a:pPr>
            <a:r>
              <a:rPr lang="en-US" sz="1400" b="1" dirty="0">
                <a:solidFill>
                  <a:srgbClr val="9A3412"/>
                </a:solidFill>
                <a:latin typeface="Courier New" pitchFamily="34" charset="0"/>
                <a:ea typeface="Courier New" pitchFamily="34" charset="-122"/>
                <a:cs typeface="Courier New" pitchFamily="34" charset="-120"/>
              </a:rPr>
              <a:t>/debug-trace</a:t>
            </a:r>
            <a:endParaRPr lang="en-US" sz="1400" dirty="0"/>
          </a:p>
        </p:txBody>
      </p:sp>
      <p:sp>
        <p:nvSpPr>
          <p:cNvPr id="31" name="Text 29"/>
          <p:cNvSpPr txBox="1"/>
          <p:nvPr/>
        </p:nvSpPr>
        <p:spPr>
          <a:xfrm>
            <a:off x="3200400" y="5559552"/>
            <a:ext cx="6217920" cy="585216"/>
          </a:xfrm>
          <a:prstGeom prst="rect">
            <a:avLst/>
          </a:prstGeom>
          <a:noFill/>
          <a:ln/>
        </p:spPr>
        <p:txBody>
          <a:bodyPr wrap="square" lIns="0" tIns="0" rIns="0" bIns="0" rtlCol="0" anchor="ctr"/>
          <a:lstStyle/>
          <a:p>
            <a:pPr indent="0" marL="0">
              <a:buNone/>
            </a:pPr>
            <a:r>
              <a:rPr lang="en-US" sz="1600" dirty="0">
                <a:solidFill>
                  <a:srgbClr val="1C1917"/>
                </a:solidFill>
                <a:latin typeface="Calibri" pitchFamily="34" charset="0"/>
                <a:ea typeface="Calibri" pitchFamily="34" charset="-122"/>
                <a:cs typeface="Calibri" pitchFamily="34" charset="-120"/>
              </a:rPr>
              <a:t>Explain a run, fix it in code</a:t>
            </a:r>
            <a:endParaRPr lang="en-US" sz="1600" dirty="0"/>
          </a:p>
        </p:txBody>
      </p:sp>
      <p:sp>
        <p:nvSpPr>
          <p:cNvPr id="32" name="Text 30"/>
          <p:cNvSpPr txBox="1"/>
          <p:nvPr/>
        </p:nvSpPr>
        <p:spPr>
          <a:xfrm>
            <a:off x="9509760" y="5559552"/>
            <a:ext cx="2011680" cy="585216"/>
          </a:xfrm>
          <a:prstGeom prst="rect">
            <a:avLst/>
          </a:prstGeom>
          <a:noFill/>
          <a:ln/>
        </p:spPr>
        <p:txBody>
          <a:bodyPr wrap="square" lIns="0" tIns="0" rIns="0" bIns="0" rtlCol="0" anchor="ctr"/>
          <a:lstStyle/>
          <a:p>
            <a:pPr algn="r" indent="0" marL="0">
              <a:buNone/>
            </a:pPr>
            <a:r>
              <a:rPr lang="en-US" sz="1400" b="1" dirty="0">
                <a:solidFill>
                  <a:srgbClr val="3F6212"/>
                </a:solidFill>
                <a:latin typeface="Calibri" pitchFamily="34" charset="0"/>
                <a:ea typeface="Calibri" pitchFamily="34" charset="-122"/>
                <a:cs typeface="Calibri" pitchFamily="34" charset="-120"/>
              </a:rPr>
              <a:t>9, 1</a:t>
            </a:r>
            <a:endParaRPr lang="en-US" sz="1400" dirty="0"/>
          </a:p>
        </p:txBody>
      </p:sp>
      <p:sp>
        <p:nvSpPr>
          <p:cNvPr id="33" name="Text 31"/>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34" name="Text 32"/>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WORKED APPLICATION</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The support agent, one task</a:t>
            </a:r>
            <a:endParaRPr lang="en-US" sz="3200" dirty="0"/>
          </a:p>
        </p:txBody>
      </p:sp>
      <p:sp>
        <p:nvSpPr>
          <p:cNvPr id="5" name="Text 3"/>
          <p:cNvSpPr txBox="1"/>
          <p:nvPr/>
        </p:nvSpPr>
        <p:spPr>
          <a:xfrm>
            <a:off x="457200" y="1115568"/>
            <a:ext cx="10972800" cy="29260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Order A1 arrived broken. Refund it.  examples/support_agent.py</a:t>
            </a:r>
            <a:endParaRPr lang="en-US" sz="1500" dirty="0"/>
          </a:p>
        </p:txBody>
      </p:sp>
      <p:sp>
        <p:nvSpPr>
          <p:cNvPr id="6" name="Shape 4"/>
          <p:cNvSpPr/>
          <p:nvPr/>
        </p:nvSpPr>
        <p:spPr>
          <a:xfrm>
            <a:off x="457200" y="1517904"/>
            <a:ext cx="11274552"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7" name="Shape 5"/>
          <p:cNvSpPr/>
          <p:nvPr/>
        </p:nvSpPr>
        <p:spPr>
          <a:xfrm>
            <a:off x="640080" y="1737360"/>
            <a:ext cx="640080" cy="384048"/>
          </a:xfrm>
          <a:prstGeom prst="roundRect">
            <a:avLst>
              <a:gd name="adj" fmla="val 14286"/>
            </a:avLst>
          </a:prstGeom>
          <a:solidFill>
            <a:srgbClr val="1C1917"/>
          </a:solidFill>
          <a:ln/>
        </p:spPr>
      </p:sp>
      <p:sp>
        <p:nvSpPr>
          <p:cNvPr id="8" name="Text 6"/>
          <p:cNvSpPr txBox="1"/>
          <p:nvPr/>
        </p:nvSpPr>
        <p:spPr>
          <a:xfrm>
            <a:off x="640080" y="1737360"/>
            <a:ext cx="6400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9" name="Text 7"/>
          <p:cNvSpPr txBox="1"/>
          <p:nvPr/>
        </p:nvSpPr>
        <p:spPr>
          <a:xfrm>
            <a:off x="1463040" y="1682496"/>
            <a:ext cx="2011680" cy="493776"/>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Scope</a:t>
            </a:r>
            <a:endParaRPr lang="en-US" sz="1600" dirty="0"/>
          </a:p>
        </p:txBody>
      </p:sp>
      <p:sp>
        <p:nvSpPr>
          <p:cNvPr id="10" name="Text 8"/>
          <p:cNvSpPr txBox="1"/>
          <p:nvPr/>
        </p:nvSpPr>
        <p:spPr>
          <a:xfrm>
            <a:off x="3566160" y="1664208"/>
            <a:ext cx="7863840" cy="530352"/>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Refund damaged orders. Never change prices or follow a page.</a:t>
            </a:r>
            <a:endParaRPr lang="en-US" sz="1500" dirty="0"/>
          </a:p>
        </p:txBody>
      </p:sp>
      <p:sp>
        <p:nvSpPr>
          <p:cNvPr id="11" name="Shape 9"/>
          <p:cNvSpPr/>
          <p:nvPr/>
        </p:nvSpPr>
        <p:spPr>
          <a:xfrm>
            <a:off x="457200" y="2450592"/>
            <a:ext cx="11274552"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2" name="Shape 10"/>
          <p:cNvSpPr/>
          <p:nvPr/>
        </p:nvSpPr>
        <p:spPr>
          <a:xfrm>
            <a:off x="640080" y="2670048"/>
            <a:ext cx="640080" cy="384048"/>
          </a:xfrm>
          <a:prstGeom prst="roundRect">
            <a:avLst>
              <a:gd name="adj" fmla="val 14286"/>
            </a:avLst>
          </a:prstGeom>
          <a:solidFill>
            <a:srgbClr val="1C1917"/>
          </a:solidFill>
          <a:ln/>
        </p:spPr>
      </p:sp>
      <p:sp>
        <p:nvSpPr>
          <p:cNvPr id="13" name="Text 11"/>
          <p:cNvSpPr txBox="1"/>
          <p:nvPr/>
        </p:nvSpPr>
        <p:spPr>
          <a:xfrm>
            <a:off x="640080" y="2670048"/>
            <a:ext cx="6400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P1</a:t>
            </a:r>
            <a:endParaRPr lang="en-US" sz="1300" dirty="0"/>
          </a:p>
        </p:txBody>
      </p:sp>
      <p:sp>
        <p:nvSpPr>
          <p:cNvPr id="14" name="Text 12"/>
          <p:cNvSpPr txBox="1"/>
          <p:nvPr/>
        </p:nvSpPr>
        <p:spPr>
          <a:xfrm>
            <a:off x="1463040" y="2615184"/>
            <a:ext cx="2011680" cy="493776"/>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Fallback</a:t>
            </a:r>
            <a:endParaRPr lang="en-US" sz="1600" dirty="0"/>
          </a:p>
        </p:txBody>
      </p:sp>
      <p:sp>
        <p:nvSpPr>
          <p:cNvPr id="15" name="Text 13"/>
          <p:cNvSpPr txBox="1"/>
          <p:nvPr/>
        </p:nvSpPr>
        <p:spPr>
          <a:xfrm>
            <a:off x="3566160" y="2596896"/>
            <a:ext cx="7863840" cy="530352"/>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Orders DB times out. lookup_order_cache answers.</a:t>
            </a:r>
            <a:endParaRPr lang="en-US" sz="1500" dirty="0"/>
          </a:p>
        </p:txBody>
      </p:sp>
      <p:sp>
        <p:nvSpPr>
          <p:cNvPr id="16" name="Shape 14"/>
          <p:cNvSpPr/>
          <p:nvPr/>
        </p:nvSpPr>
        <p:spPr>
          <a:xfrm>
            <a:off x="457200" y="3383280"/>
            <a:ext cx="11274552"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7" name="Shape 15"/>
          <p:cNvSpPr/>
          <p:nvPr/>
        </p:nvSpPr>
        <p:spPr>
          <a:xfrm>
            <a:off x="640080" y="3602736"/>
            <a:ext cx="640080" cy="384048"/>
          </a:xfrm>
          <a:prstGeom prst="roundRect">
            <a:avLst>
              <a:gd name="adj" fmla="val 14286"/>
            </a:avLst>
          </a:prstGeom>
          <a:solidFill>
            <a:srgbClr val="1C1917"/>
          </a:solidFill>
          <a:ln/>
        </p:spPr>
      </p:sp>
      <p:sp>
        <p:nvSpPr>
          <p:cNvPr id="18" name="Text 16"/>
          <p:cNvSpPr txBox="1"/>
          <p:nvPr/>
        </p:nvSpPr>
        <p:spPr>
          <a:xfrm>
            <a:off x="640080" y="3602736"/>
            <a:ext cx="6400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P4</a:t>
            </a:r>
            <a:endParaRPr lang="en-US" sz="1300" dirty="0"/>
          </a:p>
        </p:txBody>
      </p:sp>
      <p:sp>
        <p:nvSpPr>
          <p:cNvPr id="19" name="Text 17"/>
          <p:cNvSpPr txBox="1"/>
          <p:nvPr/>
        </p:nvSpPr>
        <p:spPr>
          <a:xfrm>
            <a:off x="1463040" y="3547872"/>
            <a:ext cx="2011680" cy="493776"/>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Approval</a:t>
            </a:r>
            <a:endParaRPr lang="en-US" sz="1600" dirty="0"/>
          </a:p>
        </p:txBody>
      </p:sp>
      <p:sp>
        <p:nvSpPr>
          <p:cNvPr id="20" name="Text 18"/>
          <p:cNvSpPr txBox="1"/>
          <p:nvPr/>
        </p:nvSpPr>
        <p:spPr>
          <a:xfrm>
            <a:off x="3566160" y="3529584"/>
            <a:ext cx="7863840" cy="530352"/>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$42 is auto-approved. Above $50, a person decides.</a:t>
            </a:r>
            <a:endParaRPr lang="en-US" sz="1500" dirty="0"/>
          </a:p>
        </p:txBody>
      </p:sp>
      <p:sp>
        <p:nvSpPr>
          <p:cNvPr id="21" name="Shape 19"/>
          <p:cNvSpPr/>
          <p:nvPr/>
        </p:nvSpPr>
        <p:spPr>
          <a:xfrm>
            <a:off x="457200" y="4315968"/>
            <a:ext cx="11274552"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2" name="Shape 20"/>
          <p:cNvSpPr/>
          <p:nvPr/>
        </p:nvSpPr>
        <p:spPr>
          <a:xfrm>
            <a:off x="640080" y="4535424"/>
            <a:ext cx="640080" cy="384048"/>
          </a:xfrm>
          <a:prstGeom prst="roundRect">
            <a:avLst>
              <a:gd name="adj" fmla="val 14286"/>
            </a:avLst>
          </a:prstGeom>
          <a:solidFill>
            <a:srgbClr val="1C1917"/>
          </a:solidFill>
          <a:ln/>
        </p:spPr>
      </p:sp>
      <p:sp>
        <p:nvSpPr>
          <p:cNvPr id="23" name="Text 21"/>
          <p:cNvSpPr txBox="1"/>
          <p:nvPr/>
        </p:nvSpPr>
        <p:spPr>
          <a:xfrm>
            <a:off x="640080" y="4535424"/>
            <a:ext cx="6400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P5</a:t>
            </a:r>
            <a:endParaRPr lang="en-US" sz="1300" dirty="0"/>
          </a:p>
        </p:txBody>
      </p:sp>
      <p:sp>
        <p:nvSpPr>
          <p:cNvPr id="24" name="Text 22"/>
          <p:cNvSpPr txBox="1"/>
          <p:nvPr/>
        </p:nvSpPr>
        <p:spPr>
          <a:xfrm>
            <a:off x="1463040" y="4480560"/>
            <a:ext cx="2011680" cy="493776"/>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Injection</a:t>
            </a:r>
            <a:endParaRPr lang="en-US" sz="1600" dirty="0"/>
          </a:p>
        </p:txBody>
      </p:sp>
      <p:sp>
        <p:nvSpPr>
          <p:cNvPr id="25" name="Text 23"/>
          <p:cNvSpPr txBox="1"/>
          <p:nvPr/>
        </p:nvSpPr>
        <p:spPr>
          <a:xfrm>
            <a:off x="3566160" y="4462272"/>
            <a:ext cx="7863840" cy="530352"/>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The policy page says ignore previous instructions. It is flagged.</a:t>
            </a:r>
            <a:endParaRPr lang="en-US" sz="1500" dirty="0"/>
          </a:p>
        </p:txBody>
      </p:sp>
      <p:sp>
        <p:nvSpPr>
          <p:cNvPr id="26" name="Shape 24"/>
          <p:cNvSpPr/>
          <p:nvPr/>
        </p:nvSpPr>
        <p:spPr>
          <a:xfrm>
            <a:off x="457200" y="5248656"/>
            <a:ext cx="11274552" cy="713232"/>
          </a:xfrm>
          <a:prstGeom prst="roundRect">
            <a:avLst>
              <a:gd name="adj" fmla="val 102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7" name="Shape 25"/>
          <p:cNvSpPr/>
          <p:nvPr/>
        </p:nvSpPr>
        <p:spPr>
          <a:xfrm>
            <a:off x="640080" y="5468112"/>
            <a:ext cx="640080" cy="384048"/>
          </a:xfrm>
          <a:prstGeom prst="roundRect">
            <a:avLst>
              <a:gd name="adj" fmla="val 14286"/>
            </a:avLst>
          </a:prstGeom>
          <a:solidFill>
            <a:srgbClr val="1C1917"/>
          </a:solidFill>
          <a:ln/>
        </p:spPr>
      </p:sp>
      <p:sp>
        <p:nvSpPr>
          <p:cNvPr id="28" name="Text 26"/>
          <p:cNvSpPr txBox="1"/>
          <p:nvPr/>
        </p:nvSpPr>
        <p:spPr>
          <a:xfrm>
            <a:off x="640080" y="5468112"/>
            <a:ext cx="6400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P8</a:t>
            </a:r>
            <a:endParaRPr lang="en-US" sz="1300" dirty="0"/>
          </a:p>
        </p:txBody>
      </p:sp>
      <p:sp>
        <p:nvSpPr>
          <p:cNvPr id="29" name="Text 27"/>
          <p:cNvSpPr txBox="1"/>
          <p:nvPr/>
        </p:nvSpPr>
        <p:spPr>
          <a:xfrm>
            <a:off x="1463040" y="5413248"/>
            <a:ext cx="2011680" cy="493776"/>
          </a:xfrm>
          <a:prstGeom prst="rect">
            <a:avLst/>
          </a:prstGeom>
          <a:noFill/>
          <a:ln/>
        </p:spPr>
        <p:txBody>
          <a:bodyPr wrap="square" lIns="0" tIns="0" rIns="0" bIns="0" rtlCol="0" anchor="ctr"/>
          <a:lstStyle/>
          <a:p>
            <a:pPr indent="0" marL="0">
              <a:buNone/>
            </a:pPr>
            <a:r>
              <a:rPr lang="en-US" sz="1600" b="1" dirty="0">
                <a:solidFill>
                  <a:srgbClr val="1C1917"/>
                </a:solidFill>
                <a:latin typeface="Calibri" pitchFamily="34" charset="0"/>
                <a:ea typeface="Calibri" pitchFamily="34" charset="-122"/>
                <a:cs typeface="Calibri" pitchFamily="34" charset="-120"/>
              </a:rPr>
              <a:t>Redaction</a:t>
            </a:r>
            <a:endParaRPr lang="en-US" sz="1600" dirty="0"/>
          </a:p>
        </p:txBody>
      </p:sp>
      <p:sp>
        <p:nvSpPr>
          <p:cNvPr id="30" name="Text 28"/>
          <p:cNvSpPr txBox="1"/>
          <p:nvPr/>
        </p:nvSpPr>
        <p:spPr>
          <a:xfrm>
            <a:off x="3566160" y="5394960"/>
            <a:ext cx="7863840" cy="530352"/>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The answer names jane@example.com. The email is removed.</a:t>
            </a:r>
            <a:endParaRPr lang="en-US" sz="1500" dirty="0"/>
          </a:p>
        </p:txBody>
      </p:sp>
      <p:sp>
        <p:nvSpPr>
          <p:cNvPr id="31" name="Text 29"/>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32" name="Text 30"/>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457200" y="292608"/>
            <a:ext cx="9144000" cy="237744"/>
          </a:xfrm>
          <a:prstGeom prst="rect">
            <a:avLst/>
          </a:prstGeom>
          <a:noFill/>
          <a:ln/>
        </p:spPr>
        <p:txBody>
          <a:bodyPr wrap="square" lIns="0" tIns="0" rIns="0" bIns="0" rtlCol="0" anchor="ctr"/>
          <a:lstStyle/>
          <a:p>
            <a:pPr indent="0" marL="0">
              <a:buNone/>
            </a:pPr>
            <a:r>
              <a:rPr lang="en-US" sz="1200" b="1" spc="120" kern="0" dirty="0">
                <a:solidFill>
                  <a:srgbClr val="C45C26"/>
                </a:solidFill>
                <a:latin typeface="Calibri" pitchFamily="34" charset="0"/>
                <a:ea typeface="Calibri" pitchFamily="34" charset="-122"/>
                <a:cs typeface="Calibri" pitchFamily="34" charset="-120"/>
              </a:rPr>
              <a:t>HARD RULES</a:t>
            </a:r>
            <a:endParaRPr lang="en-US" sz="1200" dirty="0"/>
          </a:p>
        </p:txBody>
      </p:sp>
      <p:sp>
        <p:nvSpPr>
          <p:cNvPr id="4" name="Text 2"/>
          <p:cNvSpPr txBox="1"/>
          <p:nvPr/>
        </p:nvSpPr>
        <p:spPr>
          <a:xfrm>
            <a:off x="457200" y="530352"/>
            <a:ext cx="11247120" cy="475488"/>
          </a:xfrm>
          <a:prstGeom prst="rect">
            <a:avLst/>
          </a:prstGeom>
          <a:noFill/>
          <a:ln/>
        </p:spPr>
        <p:txBody>
          <a:bodyPr wrap="square" lIns="0" tIns="0" rIns="0" bIns="0" rtlCol="0" anchor="ctr"/>
          <a:lstStyle/>
          <a:p>
            <a:pPr indent="0" marL="0">
              <a:buNone/>
            </a:pPr>
            <a:r>
              <a:rPr lang="en-US" sz="3200" b="1" dirty="0">
                <a:solidFill>
                  <a:srgbClr val="1C1917"/>
                </a:solidFill>
                <a:latin typeface="Cambria" pitchFamily="34" charset="0"/>
                <a:ea typeface="Cambria" pitchFamily="34" charset="-122"/>
                <a:cs typeface="Cambria" pitchFamily="34" charset="-120"/>
              </a:rPr>
              <a:t>These stay in the code</a:t>
            </a:r>
            <a:endParaRPr lang="en-US" sz="3200" dirty="0"/>
          </a:p>
        </p:txBody>
      </p:sp>
      <p:sp>
        <p:nvSpPr>
          <p:cNvPr id="5" name="Shape 3"/>
          <p:cNvSpPr/>
          <p:nvPr/>
        </p:nvSpPr>
        <p:spPr>
          <a:xfrm>
            <a:off x="457200" y="1417320"/>
            <a:ext cx="3593592" cy="2057400"/>
          </a:xfrm>
          <a:prstGeom prst="roundRect">
            <a:avLst>
              <a:gd name="adj" fmla="val 35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6" name="Shape 4"/>
          <p:cNvSpPr/>
          <p:nvPr/>
        </p:nvSpPr>
        <p:spPr>
          <a:xfrm>
            <a:off x="658368" y="1673352"/>
            <a:ext cx="420624" cy="420624"/>
          </a:xfrm>
          <a:prstGeom prst="roundRect">
            <a:avLst>
              <a:gd name="adj" fmla="val 13043"/>
            </a:avLst>
          </a:prstGeom>
          <a:solidFill>
            <a:srgbClr val="C45C26"/>
          </a:solidFill>
          <a:ln/>
        </p:spPr>
      </p:sp>
      <p:sp>
        <p:nvSpPr>
          <p:cNvPr id="7" name="Text 5"/>
          <p:cNvSpPr txBox="1"/>
          <p:nvPr/>
        </p:nvSpPr>
        <p:spPr>
          <a:xfrm>
            <a:off x="658368" y="167335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225296" y="1691640"/>
            <a:ext cx="2651760" cy="384048"/>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Credentials</a:t>
            </a:r>
            <a:endParaRPr lang="en-US" sz="1800" dirty="0"/>
          </a:p>
        </p:txBody>
      </p:sp>
      <p:sp>
        <p:nvSpPr>
          <p:cNvPr id="9" name="Text 7"/>
          <p:cNvSpPr txBox="1"/>
          <p:nvPr/>
        </p:nvSpPr>
        <p:spPr>
          <a:xfrm>
            <a:off x="658368" y="2377440"/>
            <a:ext cx="3246120" cy="73152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The agent uses its own scoped keys.</a:t>
            </a:r>
            <a:endParaRPr lang="en-US" sz="1500" dirty="0"/>
          </a:p>
        </p:txBody>
      </p:sp>
      <p:sp>
        <p:nvSpPr>
          <p:cNvPr id="10" name="Shape 8"/>
          <p:cNvSpPr/>
          <p:nvPr/>
        </p:nvSpPr>
        <p:spPr>
          <a:xfrm>
            <a:off x="4306824" y="1417320"/>
            <a:ext cx="3593592" cy="2057400"/>
          </a:xfrm>
          <a:prstGeom prst="roundRect">
            <a:avLst>
              <a:gd name="adj" fmla="val 35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1" name="Shape 9"/>
          <p:cNvSpPr/>
          <p:nvPr/>
        </p:nvSpPr>
        <p:spPr>
          <a:xfrm>
            <a:off x="4507992" y="1673352"/>
            <a:ext cx="420624" cy="420624"/>
          </a:xfrm>
          <a:prstGeom prst="roundRect">
            <a:avLst>
              <a:gd name="adj" fmla="val 13043"/>
            </a:avLst>
          </a:prstGeom>
          <a:solidFill>
            <a:srgbClr val="C45C26"/>
          </a:solidFill>
          <a:ln/>
        </p:spPr>
      </p:sp>
      <p:sp>
        <p:nvSpPr>
          <p:cNvPr id="12" name="Text 10"/>
          <p:cNvSpPr txBox="1"/>
          <p:nvPr/>
        </p:nvSpPr>
        <p:spPr>
          <a:xfrm>
            <a:off x="4507992" y="167335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5074920" y="1691640"/>
            <a:ext cx="2651760" cy="384048"/>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Approval</a:t>
            </a:r>
            <a:endParaRPr lang="en-US" sz="1800" dirty="0"/>
          </a:p>
        </p:txBody>
      </p:sp>
      <p:sp>
        <p:nvSpPr>
          <p:cNvPr id="14" name="Text 12"/>
          <p:cNvSpPr txBox="1"/>
          <p:nvPr/>
        </p:nvSpPr>
        <p:spPr>
          <a:xfrm>
            <a:off x="4507992" y="2377440"/>
            <a:ext cx="3246120" cy="73152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An irreversible action can be refused.</a:t>
            </a:r>
            <a:endParaRPr lang="en-US" sz="1500" dirty="0"/>
          </a:p>
        </p:txBody>
      </p:sp>
      <p:sp>
        <p:nvSpPr>
          <p:cNvPr id="15" name="Shape 13"/>
          <p:cNvSpPr/>
          <p:nvPr/>
        </p:nvSpPr>
        <p:spPr>
          <a:xfrm>
            <a:off x="8156448" y="1417320"/>
            <a:ext cx="3593592" cy="2057400"/>
          </a:xfrm>
          <a:prstGeom prst="roundRect">
            <a:avLst>
              <a:gd name="adj" fmla="val 35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16" name="Shape 14"/>
          <p:cNvSpPr/>
          <p:nvPr/>
        </p:nvSpPr>
        <p:spPr>
          <a:xfrm>
            <a:off x="8357616" y="1673352"/>
            <a:ext cx="420624" cy="420624"/>
          </a:xfrm>
          <a:prstGeom prst="roundRect">
            <a:avLst>
              <a:gd name="adj" fmla="val 13043"/>
            </a:avLst>
          </a:prstGeom>
          <a:solidFill>
            <a:srgbClr val="C45C26"/>
          </a:solidFill>
          <a:ln/>
        </p:spPr>
      </p:sp>
      <p:sp>
        <p:nvSpPr>
          <p:cNvPr id="17" name="Text 15"/>
          <p:cNvSpPr txBox="1"/>
          <p:nvPr/>
        </p:nvSpPr>
        <p:spPr>
          <a:xfrm>
            <a:off x="8357616" y="167335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924544" y="1691640"/>
            <a:ext cx="2651760" cy="384048"/>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Writes</a:t>
            </a:r>
            <a:endParaRPr lang="en-US" sz="1800" dirty="0"/>
          </a:p>
        </p:txBody>
      </p:sp>
      <p:sp>
        <p:nvSpPr>
          <p:cNvPr id="19" name="Text 17"/>
          <p:cNvSpPr txBox="1"/>
          <p:nvPr/>
        </p:nvSpPr>
        <p:spPr>
          <a:xfrm>
            <a:off x="8357616" y="2377440"/>
            <a:ext cx="3246120" cy="73152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A retried write carries an idempotency key.</a:t>
            </a:r>
            <a:endParaRPr lang="en-US" sz="1500" dirty="0"/>
          </a:p>
        </p:txBody>
      </p:sp>
      <p:sp>
        <p:nvSpPr>
          <p:cNvPr id="20" name="Shape 18"/>
          <p:cNvSpPr/>
          <p:nvPr/>
        </p:nvSpPr>
        <p:spPr>
          <a:xfrm>
            <a:off x="457200" y="3749040"/>
            <a:ext cx="3593592" cy="2057400"/>
          </a:xfrm>
          <a:prstGeom prst="roundRect">
            <a:avLst>
              <a:gd name="adj" fmla="val 35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1" name="Shape 19"/>
          <p:cNvSpPr/>
          <p:nvPr/>
        </p:nvSpPr>
        <p:spPr>
          <a:xfrm>
            <a:off x="658368" y="4005072"/>
            <a:ext cx="420624" cy="420624"/>
          </a:xfrm>
          <a:prstGeom prst="roundRect">
            <a:avLst>
              <a:gd name="adj" fmla="val 13043"/>
            </a:avLst>
          </a:prstGeom>
          <a:solidFill>
            <a:srgbClr val="C45C26"/>
          </a:solidFill>
          <a:ln/>
        </p:spPr>
      </p:sp>
      <p:sp>
        <p:nvSpPr>
          <p:cNvPr id="22" name="Text 20"/>
          <p:cNvSpPr txBox="1"/>
          <p:nvPr/>
        </p:nvSpPr>
        <p:spPr>
          <a:xfrm>
            <a:off x="658368" y="400507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1225296" y="4023360"/>
            <a:ext cx="2651760" cy="384048"/>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Code</a:t>
            </a:r>
            <a:endParaRPr lang="en-US" sz="1800" dirty="0"/>
          </a:p>
        </p:txBody>
      </p:sp>
      <p:sp>
        <p:nvSpPr>
          <p:cNvPr id="24" name="Text 22"/>
          <p:cNvSpPr txBox="1"/>
          <p:nvPr/>
        </p:nvSpPr>
        <p:spPr>
          <a:xfrm>
            <a:off x="658368" y="4709160"/>
            <a:ext cx="3246120" cy="73152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Generated code runs inside run_in_sandbox.</a:t>
            </a:r>
            <a:endParaRPr lang="en-US" sz="1500" dirty="0"/>
          </a:p>
        </p:txBody>
      </p:sp>
      <p:sp>
        <p:nvSpPr>
          <p:cNvPr id="25" name="Shape 23"/>
          <p:cNvSpPr/>
          <p:nvPr/>
        </p:nvSpPr>
        <p:spPr>
          <a:xfrm>
            <a:off x="4306824" y="3749040"/>
            <a:ext cx="3593592" cy="2057400"/>
          </a:xfrm>
          <a:prstGeom prst="roundRect">
            <a:avLst>
              <a:gd name="adj" fmla="val 35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26" name="Shape 24"/>
          <p:cNvSpPr/>
          <p:nvPr/>
        </p:nvSpPr>
        <p:spPr>
          <a:xfrm>
            <a:off x="4507992" y="4005072"/>
            <a:ext cx="420624" cy="420624"/>
          </a:xfrm>
          <a:prstGeom prst="roundRect">
            <a:avLst>
              <a:gd name="adj" fmla="val 13043"/>
            </a:avLst>
          </a:prstGeom>
          <a:solidFill>
            <a:srgbClr val="C45C26"/>
          </a:solidFill>
          <a:ln/>
        </p:spPr>
      </p:sp>
      <p:sp>
        <p:nvSpPr>
          <p:cNvPr id="27" name="Text 25"/>
          <p:cNvSpPr txBox="1"/>
          <p:nvPr/>
        </p:nvSpPr>
        <p:spPr>
          <a:xfrm>
            <a:off x="4507992" y="400507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5074920" y="4023360"/>
            <a:ext cx="2651760" cy="384048"/>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Traces</a:t>
            </a:r>
            <a:endParaRPr lang="en-US" sz="1800" dirty="0"/>
          </a:p>
        </p:txBody>
      </p:sp>
      <p:sp>
        <p:nvSpPr>
          <p:cNvPr id="29" name="Text 27"/>
          <p:cNvSpPr txBox="1"/>
          <p:nvPr/>
        </p:nvSpPr>
        <p:spPr>
          <a:xfrm>
            <a:off x="4507992" y="4709160"/>
            <a:ext cx="3246120" cy="73152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Secrets and raw PII stay out of prompts and traces.</a:t>
            </a:r>
            <a:endParaRPr lang="en-US" sz="1500" dirty="0"/>
          </a:p>
        </p:txBody>
      </p:sp>
      <p:sp>
        <p:nvSpPr>
          <p:cNvPr id="30" name="Shape 28"/>
          <p:cNvSpPr/>
          <p:nvPr/>
        </p:nvSpPr>
        <p:spPr>
          <a:xfrm>
            <a:off x="8156448" y="3749040"/>
            <a:ext cx="3593592" cy="2057400"/>
          </a:xfrm>
          <a:prstGeom prst="roundRect">
            <a:avLst>
              <a:gd name="adj" fmla="val 3556"/>
            </a:avLst>
          </a:prstGeom>
          <a:solidFill>
            <a:srgbClr val="F4F7F8"/>
          </a:solidFill>
          <a:ln w="12700">
            <a:solidFill>
              <a:srgbClr val="D5DEE0"/>
            </a:solidFill>
            <a:prstDash val="solid"/>
          </a:ln>
          <a:effectLst>
            <a:outerShdw sx="100000" sy="100000" kx="0" ky="0" algn="bl" rotWithShape="0" blurRad="127000" dist="25400" dir="5400000">
              <a:srgbClr val="1C1917">
                <a:alpha val="8000"/>
              </a:srgbClr>
            </a:outerShdw>
          </a:effectLst>
        </p:spPr>
      </p:sp>
      <p:sp>
        <p:nvSpPr>
          <p:cNvPr id="31" name="Shape 29"/>
          <p:cNvSpPr/>
          <p:nvPr/>
        </p:nvSpPr>
        <p:spPr>
          <a:xfrm>
            <a:off x="8357616" y="4005072"/>
            <a:ext cx="420624" cy="420624"/>
          </a:xfrm>
          <a:prstGeom prst="roundRect">
            <a:avLst>
              <a:gd name="adj" fmla="val 13043"/>
            </a:avLst>
          </a:prstGeom>
          <a:solidFill>
            <a:srgbClr val="C45C26"/>
          </a:solidFill>
          <a:ln/>
        </p:spPr>
      </p:sp>
      <p:sp>
        <p:nvSpPr>
          <p:cNvPr id="32" name="Text 30"/>
          <p:cNvSpPr txBox="1"/>
          <p:nvPr/>
        </p:nvSpPr>
        <p:spPr>
          <a:xfrm>
            <a:off x="8357616" y="400507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31"/>
          <p:cNvSpPr txBox="1"/>
          <p:nvPr/>
        </p:nvSpPr>
        <p:spPr>
          <a:xfrm>
            <a:off x="8924544" y="4023360"/>
            <a:ext cx="2651760" cy="384048"/>
          </a:xfrm>
          <a:prstGeom prst="rect">
            <a:avLst/>
          </a:prstGeom>
          <a:noFill/>
          <a:ln/>
        </p:spPr>
        <p:txBody>
          <a:bodyPr wrap="square" lIns="0" tIns="0" rIns="0" bIns="0" rtlCol="0" anchor="ctr"/>
          <a:lstStyle/>
          <a:p>
            <a:pPr indent="0" marL="0">
              <a:buNone/>
            </a:pPr>
            <a:r>
              <a:rPr lang="en-US" sz="1800" b="1" dirty="0">
                <a:solidFill>
                  <a:srgbClr val="1C1917"/>
                </a:solidFill>
                <a:latin typeface="Calibri" pitchFamily="34" charset="0"/>
                <a:ea typeface="Calibri" pitchFamily="34" charset="-122"/>
                <a:cs typeface="Calibri" pitchFamily="34" charset="-120"/>
              </a:rPr>
              <a:t>Honesty</a:t>
            </a:r>
            <a:endParaRPr lang="en-US" sz="1800" dirty="0"/>
          </a:p>
        </p:txBody>
      </p:sp>
      <p:sp>
        <p:nvSpPr>
          <p:cNvPr id="34" name="Text 32"/>
          <p:cNvSpPr txBox="1"/>
          <p:nvPr/>
        </p:nvSpPr>
        <p:spPr>
          <a:xfrm>
            <a:off x="8357616" y="4709160"/>
            <a:ext cx="3246120" cy="731520"/>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A failed tool returns what happened, plus a trace id.</a:t>
            </a:r>
            <a:endParaRPr lang="en-US" sz="1500" dirty="0"/>
          </a:p>
        </p:txBody>
      </p:sp>
      <p:sp>
        <p:nvSpPr>
          <p:cNvPr id="35" name="Text 33"/>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78716C"/>
                </a:solidFill>
                <a:latin typeface="Calibri" pitchFamily="34" charset="0"/>
                <a:ea typeface="Calibri" pitchFamily="34" charset="-122"/>
                <a:cs typeface="Calibri" pitchFamily="34" charset="-120"/>
              </a:rPr>
              <a:t>Safe agent harness</a:t>
            </a:r>
            <a:endParaRPr lang="en-US" sz="1100" dirty="0"/>
          </a:p>
        </p:txBody>
      </p:sp>
      <p:sp>
        <p:nvSpPr>
          <p:cNvPr id="36" name="Text 34"/>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C1917"/>
          </a:solidFill>
          <a:ln/>
        </p:spPr>
      </p:sp>
      <p:sp>
        <p:nvSpPr>
          <p:cNvPr id="3" name="Text 1"/>
          <p:cNvSpPr txBox="1"/>
          <p:nvPr/>
        </p:nvSpPr>
        <p:spPr>
          <a:xfrm>
            <a:off x="502920" y="347472"/>
            <a:ext cx="7315200" cy="256032"/>
          </a:xfrm>
          <a:prstGeom prst="rect">
            <a:avLst/>
          </a:prstGeom>
          <a:noFill/>
          <a:ln/>
        </p:spPr>
        <p:txBody>
          <a:bodyPr wrap="square" lIns="0" tIns="0" rIns="0" bIns="0" rtlCol="0" anchor="ctr"/>
          <a:lstStyle/>
          <a:p>
            <a:pPr indent="0" marL="0">
              <a:buNone/>
            </a:pPr>
            <a:r>
              <a:rPr lang="en-US" sz="1300" b="1" spc="120" kern="0" dirty="0">
                <a:solidFill>
                  <a:srgbClr val="C45C26"/>
                </a:solidFill>
                <a:latin typeface="Calibri" pitchFamily="34" charset="0"/>
                <a:ea typeface="Calibri" pitchFamily="34" charset="-122"/>
                <a:cs typeface="Calibri" pitchFamily="34" charset="-120"/>
              </a:rPr>
              <a:t>EXIT CHECKLIST</a:t>
            </a:r>
            <a:endParaRPr lang="en-US" sz="1300" dirty="0"/>
          </a:p>
        </p:txBody>
      </p:sp>
      <p:sp>
        <p:nvSpPr>
          <p:cNvPr id="4" name="Text 2"/>
          <p:cNvSpPr txBox="1"/>
          <p:nvPr/>
        </p:nvSpPr>
        <p:spPr>
          <a:xfrm>
            <a:off x="502920" y="658368"/>
            <a:ext cx="10972800" cy="3840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Mark each item done, n/a, or TODO.</a:t>
            </a:r>
            <a:endParaRPr lang="en-US" sz="2800" dirty="0"/>
          </a:p>
        </p:txBody>
      </p:sp>
      <p:sp>
        <p:nvSpPr>
          <p:cNvPr id="5" name="Shape 3"/>
          <p:cNvSpPr/>
          <p:nvPr/>
        </p:nvSpPr>
        <p:spPr>
          <a:xfrm>
            <a:off x="502920" y="1371600"/>
            <a:ext cx="329184" cy="329184"/>
          </a:xfrm>
          <a:prstGeom prst="roundRect">
            <a:avLst>
              <a:gd name="adj" fmla="val 11111"/>
            </a:avLst>
          </a:prstGeom>
          <a:solidFill>
            <a:srgbClr val="292524"/>
          </a:solidFill>
          <a:ln w="12700">
            <a:solidFill>
              <a:srgbClr val="44403C"/>
            </a:solidFill>
            <a:prstDash val="solid"/>
          </a:ln>
        </p:spPr>
      </p:sp>
      <p:sp>
        <p:nvSpPr>
          <p:cNvPr id="6" name="Text 4"/>
          <p:cNvSpPr txBox="1"/>
          <p:nvPr/>
        </p:nvSpPr>
        <p:spPr>
          <a:xfrm>
            <a:off x="978408" y="1316736"/>
            <a:ext cx="5029200" cy="457200"/>
          </a:xfrm>
          <a:prstGeom prst="rect">
            <a:avLst/>
          </a:prstGeom>
          <a:noFill/>
          <a:ln/>
        </p:spPr>
        <p:txBody>
          <a:bodyPr wrap="square" lIns="0" tIns="0" rIns="0" bIns="0" rtlCol="0" anchor="ctr"/>
          <a:lstStyle/>
          <a:p>
            <a:pPr indent="0" marL="0">
              <a:buNone/>
            </a:pPr>
            <a:r>
              <a:rPr lang="en-US" sz="1500" dirty="0">
                <a:solidFill>
                  <a:srgbClr val="F6F1E7"/>
                </a:solidFill>
                <a:latin typeface="Calibri" pitchFamily="34" charset="0"/>
                <a:ea typeface="Calibri" pitchFamily="34" charset="-122"/>
                <a:cs typeface="Calibri" pitchFamily="34" charset="-120"/>
              </a:rPr>
              <a:t>P2   Purpose and never-do list in system=</a:t>
            </a:r>
            <a:endParaRPr lang="en-US" sz="1500" dirty="0"/>
          </a:p>
        </p:txBody>
      </p:sp>
      <p:sp>
        <p:nvSpPr>
          <p:cNvPr id="7" name="Shape 5"/>
          <p:cNvSpPr/>
          <p:nvPr/>
        </p:nvSpPr>
        <p:spPr>
          <a:xfrm>
            <a:off x="502920" y="2240280"/>
            <a:ext cx="329184" cy="329184"/>
          </a:xfrm>
          <a:prstGeom prst="roundRect">
            <a:avLst>
              <a:gd name="adj" fmla="val 11111"/>
            </a:avLst>
          </a:prstGeom>
          <a:solidFill>
            <a:srgbClr val="292524"/>
          </a:solidFill>
          <a:ln w="12700">
            <a:solidFill>
              <a:srgbClr val="44403C"/>
            </a:solidFill>
            <a:prstDash val="solid"/>
          </a:ln>
        </p:spPr>
      </p:sp>
      <p:sp>
        <p:nvSpPr>
          <p:cNvPr id="8" name="Text 6"/>
          <p:cNvSpPr txBox="1"/>
          <p:nvPr/>
        </p:nvSpPr>
        <p:spPr>
          <a:xfrm>
            <a:off x="978408" y="2185416"/>
            <a:ext cx="5029200" cy="457200"/>
          </a:xfrm>
          <a:prstGeom prst="rect">
            <a:avLst/>
          </a:prstGeom>
          <a:noFill/>
          <a:ln/>
        </p:spPr>
        <p:txBody>
          <a:bodyPr wrap="square" lIns="0" tIns="0" rIns="0" bIns="0" rtlCol="0" anchor="ctr"/>
          <a:lstStyle/>
          <a:p>
            <a:pPr indent="0" marL="0">
              <a:buNone/>
            </a:pPr>
            <a:r>
              <a:rPr lang="en-US" sz="1500" dirty="0">
                <a:solidFill>
                  <a:srgbClr val="F6F1E7"/>
                </a:solidFill>
                <a:latin typeface="Calibri" pitchFamily="34" charset="0"/>
                <a:ea typeface="Calibri" pitchFamily="34" charset="-122"/>
                <a:cs typeface="Calibri" pitchFamily="34" charset="-120"/>
              </a:rPr>
              <a:t>P3   Every tool has a strict schema and a risk tier</a:t>
            </a:r>
            <a:endParaRPr lang="en-US" sz="1500" dirty="0"/>
          </a:p>
        </p:txBody>
      </p:sp>
      <p:sp>
        <p:nvSpPr>
          <p:cNvPr id="9" name="Shape 7"/>
          <p:cNvSpPr/>
          <p:nvPr/>
        </p:nvSpPr>
        <p:spPr>
          <a:xfrm>
            <a:off x="502920" y="3108960"/>
            <a:ext cx="329184" cy="329184"/>
          </a:xfrm>
          <a:prstGeom prst="roundRect">
            <a:avLst>
              <a:gd name="adj" fmla="val 11111"/>
            </a:avLst>
          </a:prstGeom>
          <a:solidFill>
            <a:srgbClr val="292524"/>
          </a:solidFill>
          <a:ln w="12700">
            <a:solidFill>
              <a:srgbClr val="44403C"/>
            </a:solidFill>
            <a:prstDash val="solid"/>
          </a:ln>
        </p:spPr>
      </p:sp>
      <p:sp>
        <p:nvSpPr>
          <p:cNvPr id="10" name="Text 8"/>
          <p:cNvSpPr txBox="1"/>
          <p:nvPr/>
        </p:nvSpPr>
        <p:spPr>
          <a:xfrm>
            <a:off x="978408" y="3054096"/>
            <a:ext cx="5029200" cy="457200"/>
          </a:xfrm>
          <a:prstGeom prst="rect">
            <a:avLst/>
          </a:prstGeom>
          <a:noFill/>
          <a:ln/>
        </p:spPr>
        <p:txBody>
          <a:bodyPr wrap="square" lIns="0" tIns="0" rIns="0" bIns="0" rtlCol="0" anchor="ctr"/>
          <a:lstStyle/>
          <a:p>
            <a:pPr indent="0" marL="0">
              <a:buNone/>
            </a:pPr>
            <a:r>
              <a:rPr lang="en-US" sz="1500" dirty="0">
                <a:solidFill>
                  <a:srgbClr val="F6F1E7"/>
                </a:solidFill>
                <a:latin typeface="Calibri" pitchFamily="34" charset="0"/>
                <a:ea typeface="Calibri" pitchFamily="34" charset="-122"/>
                <a:cs typeface="Calibri" pitchFamily="34" charset="-120"/>
              </a:rPr>
              <a:t>P4   Irreversible tools have a real approver</a:t>
            </a:r>
            <a:endParaRPr lang="en-US" sz="1500" dirty="0"/>
          </a:p>
        </p:txBody>
      </p:sp>
      <p:sp>
        <p:nvSpPr>
          <p:cNvPr id="11" name="Shape 9"/>
          <p:cNvSpPr/>
          <p:nvPr/>
        </p:nvSpPr>
        <p:spPr>
          <a:xfrm>
            <a:off x="502920" y="3977640"/>
            <a:ext cx="329184" cy="329184"/>
          </a:xfrm>
          <a:prstGeom prst="roundRect">
            <a:avLst>
              <a:gd name="adj" fmla="val 11111"/>
            </a:avLst>
          </a:prstGeom>
          <a:solidFill>
            <a:srgbClr val="292524"/>
          </a:solidFill>
          <a:ln w="12700">
            <a:solidFill>
              <a:srgbClr val="44403C"/>
            </a:solidFill>
            <a:prstDash val="solid"/>
          </a:ln>
        </p:spPr>
      </p:sp>
      <p:sp>
        <p:nvSpPr>
          <p:cNvPr id="12" name="Text 10"/>
          <p:cNvSpPr txBox="1"/>
          <p:nvPr/>
        </p:nvSpPr>
        <p:spPr>
          <a:xfrm>
            <a:off x="978408" y="3922776"/>
            <a:ext cx="5029200" cy="457200"/>
          </a:xfrm>
          <a:prstGeom prst="rect">
            <a:avLst/>
          </a:prstGeom>
          <a:noFill/>
          <a:ln/>
        </p:spPr>
        <p:txBody>
          <a:bodyPr wrap="square" lIns="0" tIns="0" rIns="0" bIns="0" rtlCol="0" anchor="ctr"/>
          <a:lstStyle/>
          <a:p>
            <a:pPr indent="0" marL="0">
              <a:buNone/>
            </a:pPr>
            <a:r>
              <a:rPr lang="en-US" sz="1500" dirty="0">
                <a:solidFill>
                  <a:srgbClr val="F6F1E7"/>
                </a:solidFill>
                <a:latin typeface="Calibri" pitchFamily="34" charset="0"/>
                <a:ea typeface="Calibri" pitchFamily="34" charset="-122"/>
                <a:cs typeface="Calibri" pitchFamily="34" charset="-120"/>
              </a:rPr>
              <a:t>P5   Untrusted sources are marked untrusted_output</a:t>
            </a:r>
            <a:endParaRPr lang="en-US" sz="1500" dirty="0"/>
          </a:p>
        </p:txBody>
      </p:sp>
      <p:sp>
        <p:nvSpPr>
          <p:cNvPr id="13" name="Shape 11"/>
          <p:cNvSpPr/>
          <p:nvPr/>
        </p:nvSpPr>
        <p:spPr>
          <a:xfrm>
            <a:off x="502920" y="4846320"/>
            <a:ext cx="329184" cy="329184"/>
          </a:xfrm>
          <a:prstGeom prst="roundRect">
            <a:avLst>
              <a:gd name="adj" fmla="val 11111"/>
            </a:avLst>
          </a:prstGeom>
          <a:solidFill>
            <a:srgbClr val="292524"/>
          </a:solidFill>
          <a:ln w="12700">
            <a:solidFill>
              <a:srgbClr val="44403C"/>
            </a:solidFill>
            <a:prstDash val="solid"/>
          </a:ln>
        </p:spPr>
      </p:sp>
      <p:sp>
        <p:nvSpPr>
          <p:cNvPr id="14" name="Text 12"/>
          <p:cNvSpPr txBox="1"/>
          <p:nvPr/>
        </p:nvSpPr>
        <p:spPr>
          <a:xfrm>
            <a:off x="978408" y="4791456"/>
            <a:ext cx="5029200" cy="457200"/>
          </a:xfrm>
          <a:prstGeom prst="rect">
            <a:avLst/>
          </a:prstGeom>
          <a:noFill/>
          <a:ln/>
        </p:spPr>
        <p:txBody>
          <a:bodyPr wrap="square" lIns="0" tIns="0" rIns="0" bIns="0" rtlCol="0" anchor="ctr"/>
          <a:lstStyle/>
          <a:p>
            <a:pPr indent="0" marL="0">
              <a:buNone/>
            </a:pPr>
            <a:r>
              <a:rPr lang="en-US" sz="1500" dirty="0">
                <a:solidFill>
                  <a:srgbClr val="F6F1E7"/>
                </a:solidFill>
                <a:latin typeface="Calibri" pitchFamily="34" charset="0"/>
                <a:ea typeface="Calibri" pitchFamily="34" charset="-122"/>
                <a:cs typeface="Calibri" pitchFamily="34" charset="-120"/>
              </a:rPr>
              <a:t>P6   Code execution uses Docker</a:t>
            </a:r>
            <a:endParaRPr lang="en-US" sz="1500" dirty="0"/>
          </a:p>
        </p:txBody>
      </p:sp>
      <p:sp>
        <p:nvSpPr>
          <p:cNvPr id="15" name="Shape 13"/>
          <p:cNvSpPr/>
          <p:nvPr/>
        </p:nvSpPr>
        <p:spPr>
          <a:xfrm>
            <a:off x="6263640" y="1371600"/>
            <a:ext cx="329184" cy="329184"/>
          </a:xfrm>
          <a:prstGeom prst="roundRect">
            <a:avLst>
              <a:gd name="adj" fmla="val 11111"/>
            </a:avLst>
          </a:prstGeom>
          <a:solidFill>
            <a:srgbClr val="292524"/>
          </a:solidFill>
          <a:ln w="12700">
            <a:solidFill>
              <a:srgbClr val="44403C"/>
            </a:solidFill>
            <a:prstDash val="solid"/>
          </a:ln>
        </p:spPr>
      </p:sp>
      <p:sp>
        <p:nvSpPr>
          <p:cNvPr id="16" name="Text 14"/>
          <p:cNvSpPr txBox="1"/>
          <p:nvPr/>
        </p:nvSpPr>
        <p:spPr>
          <a:xfrm>
            <a:off x="6739128" y="1316736"/>
            <a:ext cx="5029200" cy="457200"/>
          </a:xfrm>
          <a:prstGeom prst="rect">
            <a:avLst/>
          </a:prstGeom>
          <a:noFill/>
          <a:ln/>
        </p:spPr>
        <p:txBody>
          <a:bodyPr wrap="square" lIns="0" tIns="0" rIns="0" bIns="0" rtlCol="0" anchor="ctr"/>
          <a:lstStyle/>
          <a:p>
            <a:pPr indent="0" marL="0">
              <a:buNone/>
            </a:pPr>
            <a:r>
              <a:rPr lang="en-US" sz="1500" dirty="0">
                <a:solidFill>
                  <a:srgbClr val="F6F1E7"/>
                </a:solidFill>
                <a:latin typeface="Calibri" pitchFamily="34" charset="0"/>
                <a:ea typeface="Calibri" pitchFamily="34" charset="-122"/>
                <a:cs typeface="Calibri" pitchFamily="34" charset="-120"/>
              </a:rPr>
              <a:t>P7   Budget and rate limits are set, kill switch tested</a:t>
            </a:r>
            <a:endParaRPr lang="en-US" sz="1500" dirty="0"/>
          </a:p>
        </p:txBody>
      </p:sp>
      <p:sp>
        <p:nvSpPr>
          <p:cNvPr id="17" name="Shape 15"/>
          <p:cNvSpPr/>
          <p:nvPr/>
        </p:nvSpPr>
        <p:spPr>
          <a:xfrm>
            <a:off x="6263640" y="2240280"/>
            <a:ext cx="329184" cy="329184"/>
          </a:xfrm>
          <a:prstGeom prst="roundRect">
            <a:avLst>
              <a:gd name="adj" fmla="val 11111"/>
            </a:avLst>
          </a:prstGeom>
          <a:solidFill>
            <a:srgbClr val="292524"/>
          </a:solidFill>
          <a:ln w="12700">
            <a:solidFill>
              <a:srgbClr val="44403C"/>
            </a:solidFill>
            <a:prstDash val="solid"/>
          </a:ln>
        </p:spPr>
      </p:sp>
      <p:sp>
        <p:nvSpPr>
          <p:cNvPr id="18" name="Text 16"/>
          <p:cNvSpPr txBox="1"/>
          <p:nvPr/>
        </p:nvSpPr>
        <p:spPr>
          <a:xfrm>
            <a:off x="6739128" y="2185416"/>
            <a:ext cx="5029200" cy="457200"/>
          </a:xfrm>
          <a:prstGeom prst="rect">
            <a:avLst/>
          </a:prstGeom>
          <a:noFill/>
          <a:ln/>
        </p:spPr>
        <p:txBody>
          <a:bodyPr wrap="square" lIns="0" tIns="0" rIns="0" bIns="0" rtlCol="0" anchor="ctr"/>
          <a:lstStyle/>
          <a:p>
            <a:pPr indent="0" marL="0">
              <a:buNone/>
            </a:pPr>
            <a:r>
              <a:rPr lang="en-US" sz="1500" dirty="0">
                <a:solidFill>
                  <a:srgbClr val="F6F1E7"/>
                </a:solidFill>
                <a:latin typeface="Calibri" pitchFamily="34" charset="0"/>
                <a:ea typeface="Calibri" pitchFamily="34" charset="-122"/>
                <a:cs typeface="Calibri" pitchFamily="34" charset="-120"/>
              </a:rPr>
              <a:t>P8   OutputValidator is on the harness</a:t>
            </a:r>
            <a:endParaRPr lang="en-US" sz="1500" dirty="0"/>
          </a:p>
        </p:txBody>
      </p:sp>
      <p:sp>
        <p:nvSpPr>
          <p:cNvPr id="19" name="Shape 17"/>
          <p:cNvSpPr/>
          <p:nvPr/>
        </p:nvSpPr>
        <p:spPr>
          <a:xfrm>
            <a:off x="6263640" y="3108960"/>
            <a:ext cx="329184" cy="329184"/>
          </a:xfrm>
          <a:prstGeom prst="roundRect">
            <a:avLst>
              <a:gd name="adj" fmla="val 11111"/>
            </a:avLst>
          </a:prstGeom>
          <a:solidFill>
            <a:srgbClr val="292524"/>
          </a:solidFill>
          <a:ln w="12700">
            <a:solidFill>
              <a:srgbClr val="44403C"/>
            </a:solidFill>
            <a:prstDash val="solid"/>
          </a:ln>
        </p:spPr>
      </p:sp>
      <p:sp>
        <p:nvSpPr>
          <p:cNvPr id="20" name="Text 18"/>
          <p:cNvSpPr txBox="1"/>
          <p:nvPr/>
        </p:nvSpPr>
        <p:spPr>
          <a:xfrm>
            <a:off x="6739128" y="3054096"/>
            <a:ext cx="5029200" cy="457200"/>
          </a:xfrm>
          <a:prstGeom prst="rect">
            <a:avLst/>
          </a:prstGeom>
          <a:noFill/>
          <a:ln/>
        </p:spPr>
        <p:txBody>
          <a:bodyPr wrap="square" lIns="0" tIns="0" rIns="0" bIns="0" rtlCol="0" anchor="ctr"/>
          <a:lstStyle/>
          <a:p>
            <a:pPr indent="0" marL="0">
              <a:buNone/>
            </a:pPr>
            <a:r>
              <a:rPr lang="en-US" sz="1500" dirty="0">
                <a:solidFill>
                  <a:srgbClr val="F6F1E7"/>
                </a:solidFill>
                <a:latin typeface="Calibri" pitchFamily="34" charset="0"/>
                <a:ea typeface="Calibri" pitchFamily="34" charset="-122"/>
                <a:cs typeface="Calibri" pitchFamily="34" charset="-120"/>
              </a:rPr>
              <a:t>P9   Tracer sink is a real backend</a:t>
            </a:r>
            <a:endParaRPr lang="en-US" sz="1500" dirty="0"/>
          </a:p>
        </p:txBody>
      </p:sp>
      <p:sp>
        <p:nvSpPr>
          <p:cNvPr id="21" name="Shape 19"/>
          <p:cNvSpPr/>
          <p:nvPr/>
        </p:nvSpPr>
        <p:spPr>
          <a:xfrm>
            <a:off x="6263640" y="3977640"/>
            <a:ext cx="329184" cy="329184"/>
          </a:xfrm>
          <a:prstGeom prst="roundRect">
            <a:avLst>
              <a:gd name="adj" fmla="val 11111"/>
            </a:avLst>
          </a:prstGeom>
          <a:solidFill>
            <a:srgbClr val="292524"/>
          </a:solidFill>
          <a:ln w="12700">
            <a:solidFill>
              <a:srgbClr val="44403C"/>
            </a:solidFill>
            <a:prstDash val="solid"/>
          </a:ln>
        </p:spPr>
      </p:sp>
      <p:sp>
        <p:nvSpPr>
          <p:cNvPr id="22" name="Text 20"/>
          <p:cNvSpPr txBox="1"/>
          <p:nvPr/>
        </p:nvSpPr>
        <p:spPr>
          <a:xfrm>
            <a:off x="6739128" y="3922776"/>
            <a:ext cx="5029200" cy="457200"/>
          </a:xfrm>
          <a:prstGeom prst="rect">
            <a:avLst/>
          </a:prstGeom>
          <a:noFill/>
          <a:ln/>
        </p:spPr>
        <p:txBody>
          <a:bodyPr wrap="square" lIns="0" tIns="0" rIns="0" bIns="0" rtlCol="0" anchor="ctr"/>
          <a:lstStyle/>
          <a:p>
            <a:pPr indent="0" marL="0">
              <a:buNone/>
            </a:pPr>
            <a:r>
              <a:rPr lang="en-US" sz="1500" dirty="0">
                <a:solidFill>
                  <a:srgbClr val="F6F1E7"/>
                </a:solidFill>
                <a:latin typeface="Calibri" pitchFamily="34" charset="0"/>
                <a:ea typeface="Calibri" pitchFamily="34" charset="-122"/>
                <a:cs typeface="Calibri" pitchFamily="34" charset="-120"/>
              </a:rPr>
              <a:t>P10  Attack cases gate CI</a:t>
            </a:r>
            <a:endParaRPr lang="en-US" sz="1500" dirty="0"/>
          </a:p>
        </p:txBody>
      </p:sp>
      <p:sp>
        <p:nvSpPr>
          <p:cNvPr id="23" name="Text 21"/>
          <p:cNvSpPr txBox="1"/>
          <p:nvPr/>
        </p:nvSpPr>
        <p:spPr>
          <a:xfrm>
            <a:off x="457200" y="6528816"/>
            <a:ext cx="4572000" cy="201168"/>
          </a:xfrm>
          <a:prstGeom prst="rect">
            <a:avLst/>
          </a:prstGeom>
          <a:noFill/>
          <a:ln/>
        </p:spPr>
        <p:txBody>
          <a:bodyPr wrap="square" lIns="0" tIns="0" rIns="0" bIns="0" rtlCol="0" anchor="ctr"/>
          <a:lstStyle/>
          <a:p>
            <a:pPr indent="0" marL="0">
              <a:buNone/>
            </a:pPr>
            <a:r>
              <a:rPr lang="en-US" sz="1100" dirty="0">
                <a:solidFill>
                  <a:srgbClr val="A8A29E"/>
                </a:solidFill>
                <a:latin typeface="Calibri" pitchFamily="34" charset="0"/>
                <a:ea typeface="Calibri" pitchFamily="34" charset="-122"/>
                <a:cs typeface="Calibri" pitchFamily="34" charset="-120"/>
              </a:rPr>
              <a:t>Safe agent harness</a:t>
            </a:r>
            <a:endParaRPr lang="en-US" sz="1100" dirty="0"/>
          </a:p>
        </p:txBody>
      </p:sp>
      <p:sp>
        <p:nvSpPr>
          <p:cNvPr id="24" name="Text 22"/>
          <p:cNvSpPr txBox="1"/>
          <p:nvPr/>
        </p:nvSpPr>
        <p:spPr>
          <a:xfrm>
            <a:off x="10698480" y="6528816"/>
            <a:ext cx="1033272" cy="201168"/>
          </a:xfrm>
          <a:prstGeom prst="rect">
            <a:avLst/>
          </a:prstGeom>
          <a:noFill/>
          <a:ln/>
        </p:spPr>
        <p:txBody>
          <a:bodyPr wrap="square" lIns="0" tIns="0" rIns="0" bIns="0" rtlCol="0" anchor="ctr"/>
          <a:lstStyle/>
          <a:p>
            <a:pPr algn="r" indent="0" marL="0">
              <a:buNone/>
            </a:pPr>
            <a:r>
              <a:rPr lang="en-US" sz="1100" dirty="0">
                <a:solidFill>
                  <a:srgbClr val="A8A29E"/>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Agent Harness</dc:title>
  <dc:subject>Applying the skill when building an agent, and when to use it</dc:subject>
  <dc:creator>Shivam</dc:creator>
  <cp:lastModifiedBy>Shivam</cp:lastModifiedBy>
  <cp:revision>1</cp:revision>
  <dcterms:created xsi:type="dcterms:W3CDTF">2026-09-27T02:21:49Z</dcterms:created>
  <dcterms:modified xsi:type="dcterms:W3CDTF">2026-09-27T02:21:49Z</dcterms:modified>
</cp:coreProperties>
</file>